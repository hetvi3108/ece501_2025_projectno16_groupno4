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12192000"/>
  <p:notesSz cx="6858000" cy="9144000"/>
  <p:embeddedFontLst>
    <p:embeddedFont>
      <p:font typeface="Helvetica Neue"/>
      <p:regular r:id="rId17"/>
      <p:bold r:id="rId18"/>
      <p:italic r:id="rId19"/>
      <p:boldItalic r:id="rId20"/>
    </p:embeddedFont>
    <p:embeddedFont>
      <p:font typeface="Helvetica Neue Light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5" roundtripDataSignature="AMtx7mj0dGygx2gLQk2CN6uAcCwe7UndV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F6B73E8-E42C-4E81-9FBA-B80F8F62BECA}">
  <a:tblStyle styleId="{BF6B73E8-E42C-4E81-9FBA-B80F8F62BEC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HelveticaNeue-boldItalic.fntdata"/><Relationship Id="rId22" Type="http://schemas.openxmlformats.org/officeDocument/2006/relationships/font" Target="fonts/HelveticaNeueLight-bold.fntdata"/><Relationship Id="rId21" Type="http://schemas.openxmlformats.org/officeDocument/2006/relationships/font" Target="fonts/HelveticaNeueLight-regular.fntdata"/><Relationship Id="rId24" Type="http://schemas.openxmlformats.org/officeDocument/2006/relationships/font" Target="fonts/HelveticaNeueLight-boldItalic.fntdata"/><Relationship Id="rId23" Type="http://schemas.openxmlformats.org/officeDocument/2006/relationships/font" Target="fonts/HelveticaNeueLight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HelveticaNeue-regular.fntdata"/><Relationship Id="rId16" Type="http://schemas.openxmlformats.org/officeDocument/2006/relationships/slide" Target="slides/slide11.xml"/><Relationship Id="rId19" Type="http://schemas.openxmlformats.org/officeDocument/2006/relationships/font" Target="fonts/HelveticaNeue-italic.fntdata"/><Relationship Id="rId18" Type="http://schemas.openxmlformats.org/officeDocument/2006/relationships/font" Target="fonts/HelveticaNeue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1" name="Google Shape;9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8bce4e0e8b_3_6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9" name="Google Shape;99;g38bce4e0e8b_3_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8bce4e0e8b_3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" name="Google Shape;106;g38bce4e0e8b_3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8bce4e0e8b_3_7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4" name="Google Shape;114;g38bce4e0e8b_3_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8bce4e0e8b_3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3" name="Google Shape;123;g38bce4e0e8b_3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8bce4e0e8b_3_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1" name="Google Shape;131;g38bce4e0e8b_3_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8bce4e0e8b_3_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9" name="Google Shape;139;g38bce4e0e8b_3_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8bce4e0e8b_3_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7" name="Google Shape;147;g38bce4e0e8b_3_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8bce4e0e8b_3_4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5" name="Google Shape;155;g38bce4e0e8b_3_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8bce4e0e8b_3_4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3" name="Google Shape;163;g38bce4e0e8b_3_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bg>
      <p:bgPr>
        <a:solidFill>
          <a:srgbClr val="801B19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type="title"/>
          </p:nvPr>
        </p:nvSpPr>
        <p:spPr>
          <a:xfrm>
            <a:off x="844150" y="3874808"/>
            <a:ext cx="10515600" cy="835416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Helvetica Neue"/>
              <a:buNone/>
              <a:defRPr sz="3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0" name="Google Shape;20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42932" y="1479396"/>
            <a:ext cx="4106136" cy="13477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Helvetica Neue"/>
              <a:buNone/>
              <a:defRPr sz="54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Helvetica Neue Light"/>
              <a:buNone/>
              <a:defRPr b="0" i="0" sz="2000">
                <a:solidFill>
                  <a:srgbClr val="888888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Helvetica Neue Light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Helvetica Neue Light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Helvetica Neue Light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Helvetica Neue Light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4" name="Google Shape;24;p6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25" name="Google Shape;25;p6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6" name="Google Shape;26;p6"/>
          <p:cNvPicPr preferRelativeResize="0"/>
          <p:nvPr/>
        </p:nvPicPr>
        <p:blipFill rotWithShape="1">
          <a:blip r:embed="rId2">
            <a:alphaModFix/>
          </a:blip>
          <a:srcRect b="38397" l="29654" r="29479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/>
          <p:nvPr>
            <p:ph type="title"/>
          </p:nvPr>
        </p:nvSpPr>
        <p:spPr>
          <a:xfrm>
            <a:off x="594303" y="2667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7"/>
          <p:cNvSpPr txBox="1"/>
          <p:nvPr>
            <p:ph idx="1" type="body"/>
          </p:nvPr>
        </p:nvSpPr>
        <p:spPr>
          <a:xfrm>
            <a:off x="582427" y="176895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Char char="•"/>
              <a:defRPr sz="2400"/>
            </a:lvl1pPr>
            <a:lvl2pPr indent="-355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sz="20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Char char="•"/>
              <a:defRPr sz="1800"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Char char="•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Char char="•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7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31" name="Google Shape;31;p7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2" name="Google Shape;32;p7"/>
          <p:cNvPicPr preferRelativeResize="0"/>
          <p:nvPr/>
        </p:nvPicPr>
        <p:blipFill rotWithShape="1">
          <a:blip r:embed="rId2">
            <a:alphaModFix/>
          </a:blip>
          <a:srcRect b="38397" l="29654" r="29479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73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4247">
          <p15:clr>
            <a:srgbClr val="FBAE40"/>
          </p15:clr>
        </p15:guide>
        <p15:guide id="4" orient="horz" pos="164">
          <p15:clr>
            <a:srgbClr val="FBAE40"/>
          </p15:clr>
        </p15:guide>
        <p15:guide id="5" orient="horz" pos="1003">
          <p15:clr>
            <a:srgbClr val="FBAE40"/>
          </p15:clr>
        </p15:guide>
        <p15:guide id="6" pos="121">
          <p15:clr>
            <a:srgbClr val="FBAE40"/>
          </p15:clr>
        </p15:guide>
        <p15:guide id="7" pos="370">
          <p15:clr>
            <a:srgbClr val="FBAE40"/>
          </p15:clr>
        </p15:guide>
        <p15:guide id="8" orient="horz" pos="1117">
          <p15:clr>
            <a:srgbClr val="FBAE40"/>
          </p15:clr>
        </p15:guide>
        <p15:guide id="9" pos="6992">
          <p15:clr>
            <a:srgbClr val="FBAE40"/>
          </p15:clr>
        </p15:guide>
        <p15:guide id="10" orient="horz" pos="3861">
          <p15:clr>
            <a:srgbClr val="FBAE40"/>
          </p15:clr>
        </p15:guide>
        <p15:guide id="11" pos="7559">
          <p15:clr>
            <a:srgbClr val="FBAE40"/>
          </p15:clr>
        </p15:guide>
        <p15:guide id="12" orient="horz" pos="3952">
          <p15:clr>
            <a:srgbClr val="FBAE40"/>
          </p15:clr>
        </p15:guide>
        <p15:guide id="13" orient="horz" pos="4201">
          <p15:clr>
            <a:srgbClr val="FBAE40"/>
          </p15:clr>
        </p15:guide>
        <p15:guide id="14" orient="horz" pos="411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38" name="Google Shape;38;p8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>
            <a:alphaModFix/>
          </a:blip>
          <a:srcRect b="38397" l="29654" r="29479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9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47" name="Google Shape;47;p9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8" name="Google Shape;48;p9"/>
          <p:cNvPicPr preferRelativeResize="0"/>
          <p:nvPr/>
        </p:nvPicPr>
        <p:blipFill rotWithShape="1">
          <a:blip r:embed="rId2">
            <a:alphaModFix/>
          </a:blip>
          <a:srcRect b="38397" l="29654" r="29479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0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52" name="Google Shape;52;p10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10"/>
          <p:cNvPicPr preferRelativeResize="0"/>
          <p:nvPr/>
        </p:nvPicPr>
        <p:blipFill rotWithShape="1">
          <a:blip r:embed="rId2">
            <a:alphaModFix/>
          </a:blip>
          <a:srcRect b="38397" l="29654" r="29479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56" name="Google Shape;56;p11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11"/>
          <p:cNvPicPr preferRelativeResize="0"/>
          <p:nvPr/>
        </p:nvPicPr>
        <p:blipFill rotWithShape="1">
          <a:blip r:embed="rId2">
            <a:alphaModFix/>
          </a:blip>
          <a:srcRect b="38397" l="29654" r="29479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 Light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 Light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 Light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 Light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63" name="Google Shape;63;p12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64" name="Google Shape;64;p12"/>
          <p:cNvPicPr preferRelativeResize="0"/>
          <p:nvPr/>
        </p:nvPicPr>
        <p:blipFill rotWithShape="1">
          <a:blip r:embed="rId2">
            <a:alphaModFix/>
          </a:blip>
          <a:srcRect b="38397" l="29654" r="29479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 Light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 Light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3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70" name="Google Shape;70;p13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1" name="Google Shape;71;p13"/>
          <p:cNvPicPr preferRelativeResize="0"/>
          <p:nvPr/>
        </p:nvPicPr>
        <p:blipFill rotWithShape="1">
          <a:blip r:embed="rId2">
            <a:alphaModFix/>
          </a:blip>
          <a:srcRect b="38397" l="29654" r="29479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4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76" name="Google Shape;76;p14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7" name="Google Shape;77;p14"/>
          <p:cNvPicPr preferRelativeResize="0"/>
          <p:nvPr/>
        </p:nvPicPr>
        <p:blipFill rotWithShape="1">
          <a:blip r:embed="rId2">
            <a:alphaModFix/>
          </a:blip>
          <a:srcRect b="38397" l="29654" r="29479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5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82" name="Google Shape;82;p15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83" name="Google Shape;83;p15"/>
          <p:cNvPicPr preferRelativeResize="0"/>
          <p:nvPr/>
        </p:nvPicPr>
        <p:blipFill rotWithShape="1">
          <a:blip r:embed="rId2">
            <a:alphaModFix/>
          </a:blip>
          <a:srcRect b="38397" l="29654" r="29479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b="1" i="0" sz="4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 Light"/>
              <a:buChar char="•"/>
              <a:defRPr b="0" i="0" sz="28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Char char="•"/>
              <a:defRPr b="0" i="0" sz="24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b="0" i="0" sz="20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Char char="•"/>
              <a:defRPr b="0" i="0" sz="18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Char char="•"/>
              <a:defRPr b="0" i="0" sz="18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12" name="Google Shape;12;p4"/>
          <p:cNvGrpSpPr/>
          <p:nvPr/>
        </p:nvGrpSpPr>
        <p:grpSpPr>
          <a:xfrm>
            <a:off x="0" y="6756400"/>
            <a:ext cx="12192000" cy="105496"/>
            <a:chOff x="0" y="6756400"/>
            <a:chExt cx="12192000" cy="105496"/>
          </a:xfrm>
        </p:grpSpPr>
        <p:pic>
          <p:nvPicPr>
            <p:cNvPr id="13" name="Google Shape;13;p4"/>
            <p:cNvPicPr preferRelativeResize="0"/>
            <p:nvPr/>
          </p:nvPicPr>
          <p:blipFill rotWithShape="1">
            <a:blip r:embed="rId1">
              <a:alphaModFix/>
            </a:blip>
            <a:srcRect b="0" l="0" r="0" t="0"/>
            <a:stretch/>
          </p:blipFill>
          <p:spPr>
            <a:xfrm>
              <a:off x="1524000" y="6756400"/>
              <a:ext cx="91440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" name="Google Shape;14;p4"/>
            <p:cNvPicPr preferRelativeResize="0"/>
            <p:nvPr/>
          </p:nvPicPr>
          <p:blipFill rotWithShape="1">
            <a:blip r:embed="rId1">
              <a:alphaModFix/>
            </a:blip>
            <a:srcRect b="15585" l="0" r="71580" t="0"/>
            <a:stretch/>
          </p:blipFill>
          <p:spPr>
            <a:xfrm>
              <a:off x="0" y="6756400"/>
              <a:ext cx="2598717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5;p4"/>
            <p:cNvPicPr preferRelativeResize="0"/>
            <p:nvPr/>
          </p:nvPicPr>
          <p:blipFill rotWithShape="1">
            <a:blip r:embed="rId1">
              <a:alphaModFix/>
            </a:blip>
            <a:srcRect b="15585" l="0" r="71580" t="0"/>
            <a:stretch/>
          </p:blipFill>
          <p:spPr>
            <a:xfrm>
              <a:off x="9593283" y="6756400"/>
              <a:ext cx="2598717" cy="10549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17" name="Google Shape;17;p4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www.ias.ac.in/public/Volumes/sadh/038/01/0123-0131.pdf" TargetMode="External"/><Relationship Id="rId4" Type="http://schemas.openxmlformats.org/officeDocument/2006/relationships/hyperlink" Target="https://doi.org/10.1109/ICCPEIC.2016.7557289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>
            <p:ph type="title"/>
          </p:nvPr>
        </p:nvSpPr>
        <p:spPr>
          <a:xfrm>
            <a:off x="844150" y="3874803"/>
            <a:ext cx="10515600" cy="2532900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Image Partitioning for Compact Encoding</a:t>
            </a:r>
            <a:endParaRPr sz="2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Group - 4</a:t>
            </a:r>
            <a:endParaRPr sz="25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Hetvi Shah(</a:t>
            </a:r>
            <a:r>
              <a:rPr lang="en-U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AU2340101</a:t>
            </a:r>
            <a:r>
              <a:rPr lang="en-U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)                               Twisha Patel(</a:t>
            </a:r>
            <a:r>
              <a:rPr lang="en-U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AU2340056</a:t>
            </a:r>
            <a:r>
              <a:rPr lang="en-U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2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Manushree Patel(</a:t>
            </a:r>
            <a:r>
              <a:rPr lang="en-U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AU2340014</a:t>
            </a:r>
            <a:r>
              <a:rPr lang="en-U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)                    Sanya Shah(</a:t>
            </a:r>
            <a:r>
              <a:rPr lang="en-U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AU2340259</a:t>
            </a:r>
            <a:r>
              <a:rPr lang="en-US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2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3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"/>
          <p:cNvSpPr txBox="1"/>
          <p:nvPr>
            <p:ph type="title"/>
          </p:nvPr>
        </p:nvSpPr>
        <p:spPr>
          <a:xfrm>
            <a:off x="594303" y="2667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rPr lang="en-US"/>
              <a:t>INTRODUCTION</a:t>
            </a:r>
            <a:endParaRPr/>
          </a:p>
        </p:txBody>
      </p:sp>
      <p:sp>
        <p:nvSpPr>
          <p:cNvPr id="94" name="Google Shape;94;p3"/>
          <p:cNvSpPr txBox="1"/>
          <p:nvPr>
            <p:ph idx="1" type="body"/>
          </p:nvPr>
        </p:nvSpPr>
        <p:spPr>
          <a:xfrm>
            <a:off x="594302" y="1849450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b="1" lang="en-US"/>
              <a:t>Image </a:t>
            </a:r>
            <a:r>
              <a:rPr b="1" lang="en-US"/>
              <a:t>partitioning</a:t>
            </a:r>
            <a:r>
              <a:rPr b="1" lang="en-US"/>
              <a:t> for compact encoding is a key technique in image processing used to reduce file size without losing critical details.</a:t>
            </a:r>
            <a:endParaRPr b="1"/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b="1" lang="en-US"/>
              <a:t>It plays a vital role in medical applications, enabling efficient storage, sharing, and transmission of large image datasets.</a:t>
            </a:r>
            <a:endParaRPr b="1"/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b="1" lang="en-US"/>
              <a:t>This ensures faster access and analysis of medical images while maintaining the quality needed for accurate diagnosis.</a:t>
            </a:r>
            <a:endParaRPr b="1"/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None/>
            </a:pPr>
            <a:r>
              <a:t/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None/>
            </a:pPr>
            <a:r>
              <a:t/>
            </a:r>
            <a:endParaRPr/>
          </a:p>
        </p:txBody>
      </p:sp>
      <p:sp>
        <p:nvSpPr>
          <p:cNvPr id="95" name="Google Shape;95;p3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6" name="Google Shape;96;p3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01/07/19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8bce4e0e8b_3_60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2" name="Google Shape;102;g38bce4e0e8b_3_60"/>
          <p:cNvSpPr txBox="1"/>
          <p:nvPr>
            <p:ph idx="10" type="dt"/>
          </p:nvPr>
        </p:nvSpPr>
        <p:spPr>
          <a:xfrm>
            <a:off x="7924800" y="6284674"/>
            <a:ext cx="28779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01/07/19</a:t>
            </a:r>
            <a:endParaRPr/>
          </a:p>
        </p:txBody>
      </p:sp>
      <p:pic>
        <p:nvPicPr>
          <p:cNvPr id="103" name="Google Shape;103;g38bce4e0e8b_3_60" title="WhatsApp Image 2025-10-12 at 14.19.58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01550" y="260350"/>
            <a:ext cx="4414700" cy="6202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8bce4e0e8b_3_0"/>
          <p:cNvSpPr txBox="1"/>
          <p:nvPr>
            <p:ph type="title"/>
          </p:nvPr>
        </p:nvSpPr>
        <p:spPr>
          <a:xfrm>
            <a:off x="582428" y="2787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rPr lang="en-US"/>
              <a:t>LITERATURE REVIEW</a:t>
            </a:r>
            <a:endParaRPr/>
          </a:p>
        </p:txBody>
      </p:sp>
      <p:sp>
        <p:nvSpPr>
          <p:cNvPr id="109" name="Google Shape;109;g38bce4e0e8b_3_0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0" name="Google Shape;110;g38bce4e0e8b_3_0"/>
          <p:cNvSpPr txBox="1"/>
          <p:nvPr>
            <p:ph idx="10" type="dt"/>
          </p:nvPr>
        </p:nvSpPr>
        <p:spPr>
          <a:xfrm>
            <a:off x="7924800" y="6284674"/>
            <a:ext cx="28779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01/07/19</a:t>
            </a:r>
            <a:endParaRPr/>
          </a:p>
        </p:txBody>
      </p:sp>
      <p:graphicFrame>
        <p:nvGraphicFramePr>
          <p:cNvPr id="111" name="Google Shape;111;g38bce4e0e8b_3_0"/>
          <p:cNvGraphicFramePr/>
          <p:nvPr/>
        </p:nvGraphicFramePr>
        <p:xfrm>
          <a:off x="812800" y="1860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{BF6B73E8-E42C-4E81-9FBA-B80F8F62BECA}</a:tableStyleId>
              </a:tblPr>
              <a:tblGrid>
                <a:gridCol w="2571750"/>
                <a:gridCol w="2571750"/>
                <a:gridCol w="2571750"/>
                <a:gridCol w="2571750"/>
              </a:tblGrid>
              <a:tr h="737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Method</a:t>
                      </a:r>
                      <a:endParaRPr sz="16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Domain/Technique</a:t>
                      </a:r>
                      <a:endParaRPr sz="16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Strengths</a:t>
                      </a:r>
                      <a:endParaRPr sz="16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Limitations/Gaps</a:t>
                      </a:r>
                      <a:endParaRPr sz="16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JPEG/JPEG-LS</a:t>
                      </a:r>
                      <a:endParaRPr sz="16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Spatial, predictive &amp; entropy coding</a:t>
                      </a:r>
                      <a:endParaRPr sz="16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Simple, lossless compression</a:t>
                      </a:r>
                      <a:endParaRPr sz="16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Treats all regions equally; ROI not prioritized</a:t>
                      </a:r>
                      <a:endParaRPr sz="16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Block-based PCA</a:t>
                      </a:r>
                      <a:endParaRPr sz="16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Statistical feature reduction</a:t>
                      </a:r>
                      <a:endParaRPr sz="16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Reduces redundancy in local blocks</a:t>
                      </a:r>
                      <a:endParaRPr sz="16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Ignores spatial–frequency variations; ROI edges blurred</a:t>
                      </a:r>
                      <a:endParaRPr sz="16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JPEG 2000 (Wavelet ROI Coding)</a:t>
                      </a:r>
                      <a:endParaRPr sz="16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Wavelet transform with Maxshift ROI</a:t>
                      </a:r>
                      <a:endParaRPr sz="16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Multiresolution, better ROI preservation</a:t>
                      </a:r>
                      <a:endParaRPr sz="16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Mixed blocks cause ROI boundary distortion</a:t>
                      </a:r>
                      <a:endParaRPr sz="16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Proposed Method (Rectangular Partition + Wavelet/ Inverse Wavelet)</a:t>
                      </a:r>
                      <a:endParaRPr sz="16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Hybrid spatial–frequency approach</a:t>
                      </a:r>
                      <a:endParaRPr sz="16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ROI enhanced, Non-ROI blurred; mixed regions refined</a:t>
                      </a:r>
                      <a:endParaRPr sz="16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More computation, but highest diagnostic fidelity</a:t>
                      </a:r>
                      <a:endParaRPr sz="1600"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8bce4e0e8b_3_77"/>
          <p:cNvSpPr txBox="1"/>
          <p:nvPr>
            <p:ph type="title"/>
          </p:nvPr>
        </p:nvSpPr>
        <p:spPr>
          <a:xfrm>
            <a:off x="594303" y="26670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rPr lang="en-US"/>
              <a:t>DATASET</a:t>
            </a:r>
            <a:endParaRPr/>
          </a:p>
        </p:txBody>
      </p:sp>
      <p:sp>
        <p:nvSpPr>
          <p:cNvPr id="117" name="Google Shape;117;g38bce4e0e8b_3_77"/>
          <p:cNvSpPr txBox="1"/>
          <p:nvPr>
            <p:ph idx="1" type="body"/>
          </p:nvPr>
        </p:nvSpPr>
        <p:spPr>
          <a:xfrm>
            <a:off x="594300" y="1592400"/>
            <a:ext cx="10515600" cy="46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Helvetica Neue"/>
                <a:ea typeface="Helvetica Neue"/>
                <a:cs typeface="Helvetica Neue"/>
                <a:sym typeface="Helvetica Neue"/>
              </a:rPr>
              <a:t>It consists of images of brains with tumors.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8" name="Google Shape;118;g38bce4e0e8b_3_77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9" name="Google Shape;119;g38bce4e0e8b_3_77"/>
          <p:cNvSpPr txBox="1"/>
          <p:nvPr>
            <p:ph idx="10" type="dt"/>
          </p:nvPr>
        </p:nvSpPr>
        <p:spPr>
          <a:xfrm>
            <a:off x="7924800" y="6284674"/>
            <a:ext cx="28779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01/07/19</a:t>
            </a:r>
            <a:endParaRPr/>
          </a:p>
        </p:txBody>
      </p:sp>
      <p:pic>
        <p:nvPicPr>
          <p:cNvPr id="120" name="Google Shape;120;g38bce4e0e8b_3_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4300" y="2415825"/>
            <a:ext cx="10868501" cy="363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8bce4e0e8b_3_7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6" name="Google Shape;126;g38bce4e0e8b_3_7"/>
          <p:cNvSpPr txBox="1"/>
          <p:nvPr>
            <p:ph idx="10" type="dt"/>
          </p:nvPr>
        </p:nvSpPr>
        <p:spPr>
          <a:xfrm>
            <a:off x="7924800" y="6284674"/>
            <a:ext cx="28779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01/07/19</a:t>
            </a:r>
            <a:endParaRPr/>
          </a:p>
        </p:txBody>
      </p:sp>
      <p:pic>
        <p:nvPicPr>
          <p:cNvPr id="127" name="Google Shape;127;g38bce4e0e8b_3_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0175" y="339425"/>
            <a:ext cx="11126898" cy="2907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g38bce4e0e8b_3_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0175" y="3169100"/>
            <a:ext cx="11126899" cy="290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8bce4e0e8b_3_14"/>
          <p:cNvSpPr txBox="1"/>
          <p:nvPr>
            <p:ph type="title"/>
          </p:nvPr>
        </p:nvSpPr>
        <p:spPr>
          <a:xfrm>
            <a:off x="594303" y="26670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rPr lang="en-US"/>
              <a:t>METHODOLOGY</a:t>
            </a:r>
            <a:endParaRPr/>
          </a:p>
        </p:txBody>
      </p:sp>
      <p:sp>
        <p:nvSpPr>
          <p:cNvPr id="134" name="Google Shape;134;g38bce4e0e8b_3_14"/>
          <p:cNvSpPr txBox="1"/>
          <p:nvPr>
            <p:ph idx="1" type="body"/>
          </p:nvPr>
        </p:nvSpPr>
        <p:spPr>
          <a:xfrm>
            <a:off x="582427" y="1768950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4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Helvetica Neue"/>
              <a:buChar char="●"/>
            </a:pPr>
            <a:r>
              <a:rPr lang="en-US" sz="9600">
                <a:latin typeface="Helvetica Neue"/>
                <a:ea typeface="Helvetica Neue"/>
                <a:cs typeface="Helvetica Neue"/>
                <a:sym typeface="Helvetica Neue"/>
              </a:rPr>
              <a:t>ROI Detection (Tumor Isolation)</a:t>
            </a:r>
            <a:endParaRPr sz="9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Helvetica Neue"/>
              <a:buChar char="●"/>
            </a:pPr>
            <a:r>
              <a:rPr lang="en-US" sz="9600">
                <a:latin typeface="Helvetica Neue"/>
                <a:ea typeface="Helvetica Neue"/>
                <a:cs typeface="Helvetica Neue"/>
                <a:sym typeface="Helvetica Neue"/>
              </a:rPr>
              <a:t>Uniform Partitioning</a:t>
            </a:r>
            <a:endParaRPr sz="9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Helvetica Neue"/>
              <a:buChar char="●"/>
            </a:pPr>
            <a:r>
              <a:rPr lang="en-US" sz="9600">
                <a:latin typeface="Helvetica Neue"/>
                <a:ea typeface="Helvetica Neue"/>
                <a:cs typeface="Helvetica Neue"/>
                <a:sym typeface="Helvetica Neue"/>
              </a:rPr>
              <a:t>Block Classification and Compact Encoding</a:t>
            </a:r>
            <a:endParaRPr sz="9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4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Helvetica Neue"/>
              <a:buAutoNum type="arabicPeriod"/>
            </a:pPr>
            <a:r>
              <a:rPr lang="en-US" sz="9600">
                <a:latin typeface="Helvetica Neue"/>
                <a:ea typeface="Helvetica Neue"/>
                <a:cs typeface="Helvetica Neue"/>
                <a:sym typeface="Helvetica Neue"/>
              </a:rPr>
              <a:t>Pure ROI Blocks (Green blocks): Apply Sharpening</a:t>
            </a:r>
            <a:endParaRPr sz="9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6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Helvetica Neue"/>
              <a:buAutoNum type="arabicPeriod"/>
            </a:pPr>
            <a:r>
              <a:rPr lang="en-US" sz="9600">
                <a:latin typeface="Helvetica Neue"/>
                <a:ea typeface="Helvetica Neue"/>
                <a:cs typeface="Helvetica Neue"/>
                <a:sym typeface="Helvetica Neue"/>
              </a:rPr>
              <a:t>Pure RONI Blocks (Blue blocks): Apply Aggressive Lossy Compression</a:t>
            </a:r>
            <a:endParaRPr sz="9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Helvetica Neue"/>
              <a:buAutoNum type="arabicPeriod"/>
            </a:pPr>
            <a:r>
              <a:rPr lang="en-US" sz="9600">
                <a:latin typeface="Helvetica Neue"/>
                <a:ea typeface="Helvetica Neue"/>
                <a:cs typeface="Helvetica Neue"/>
                <a:sym typeface="Helvetica Neue"/>
              </a:rPr>
              <a:t>Mixed/Boundary Blocks (Red block): Apply Wavelet-like Enhancement</a:t>
            </a:r>
            <a:endParaRPr sz="9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153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400"/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Helvetica Neue Light"/>
              <a:buNone/>
            </a:pPr>
            <a:r>
              <a:t/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Helvetica Neue Light"/>
              <a:buNone/>
            </a:pPr>
            <a:r>
              <a:t/>
            </a:r>
            <a:endParaRPr/>
          </a:p>
        </p:txBody>
      </p:sp>
      <p:sp>
        <p:nvSpPr>
          <p:cNvPr id="135" name="Google Shape;135;g38bce4e0e8b_3_14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6" name="Google Shape;136;g38bce4e0e8b_3_14"/>
          <p:cNvSpPr txBox="1"/>
          <p:nvPr>
            <p:ph idx="10" type="dt"/>
          </p:nvPr>
        </p:nvSpPr>
        <p:spPr>
          <a:xfrm>
            <a:off x="7924800" y="6284674"/>
            <a:ext cx="28779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01/07/19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8bce4e0e8b_3_21"/>
          <p:cNvSpPr txBox="1"/>
          <p:nvPr>
            <p:ph type="title"/>
          </p:nvPr>
        </p:nvSpPr>
        <p:spPr>
          <a:xfrm>
            <a:off x="587378" y="-64465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rPr lang="en-US"/>
              <a:t>RESULTS</a:t>
            </a:r>
            <a:endParaRPr/>
          </a:p>
        </p:txBody>
      </p:sp>
      <p:sp>
        <p:nvSpPr>
          <p:cNvPr id="142" name="Google Shape;142;g38bce4e0e8b_3_21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3" name="Google Shape;143;g38bce4e0e8b_3_21"/>
          <p:cNvSpPr txBox="1"/>
          <p:nvPr>
            <p:ph idx="10" type="dt"/>
          </p:nvPr>
        </p:nvSpPr>
        <p:spPr>
          <a:xfrm>
            <a:off x="7924800" y="6284674"/>
            <a:ext cx="28779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01/07/19</a:t>
            </a:r>
            <a:endParaRPr/>
          </a:p>
        </p:txBody>
      </p:sp>
      <p:pic>
        <p:nvPicPr>
          <p:cNvPr id="144" name="Google Shape;144;g38bce4e0e8b_3_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9500" y="944400"/>
            <a:ext cx="11086050" cy="4377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8bce4e0e8b_3_35"/>
          <p:cNvSpPr txBox="1"/>
          <p:nvPr>
            <p:ph type="title"/>
          </p:nvPr>
        </p:nvSpPr>
        <p:spPr>
          <a:xfrm>
            <a:off x="594303" y="11590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rPr lang="en-US"/>
              <a:t>CONCLUSIONS</a:t>
            </a:r>
            <a:endParaRPr/>
          </a:p>
        </p:txBody>
      </p:sp>
      <p:sp>
        <p:nvSpPr>
          <p:cNvPr id="150" name="Google Shape;150;g38bce4e0e8b_3_35"/>
          <p:cNvSpPr txBox="1"/>
          <p:nvPr>
            <p:ph idx="1" type="body"/>
          </p:nvPr>
        </p:nvSpPr>
        <p:spPr>
          <a:xfrm>
            <a:off x="661400" y="1592275"/>
            <a:ext cx="10515600" cy="42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-"/>
            </a:pPr>
            <a:r>
              <a:rPr b="1" lang="en-US"/>
              <a:t>It uses an ROI-based wavelet transform for efficient image compression.</a:t>
            </a:r>
            <a:endParaRPr b="1"/>
          </a:p>
          <a:p>
            <a:pPr indent="0" lvl="0" marL="152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-"/>
            </a:pPr>
            <a:r>
              <a:rPr b="1" lang="en-US"/>
              <a:t>ROI areas are enhanced, Non-ROI blurred, and Mixed blocks use wavelet and inverse wavelet transforms.</a:t>
            </a:r>
            <a:endParaRPr b="1"/>
          </a:p>
          <a:p>
            <a:pPr indent="0" lvl="0" marL="152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-"/>
            </a:pPr>
            <a:r>
              <a:rPr b="1" lang="en-US"/>
              <a:t>It ensures high quality in key regions and is especially useful in medical imaging to preserve diagnostic details.</a:t>
            </a:r>
            <a:endParaRPr b="1"/>
          </a:p>
          <a:p>
            <a:pPr indent="0" lvl="0" marL="1524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None/>
            </a:pPr>
            <a:r>
              <a:t/>
            </a:r>
            <a:endParaRPr b="1"/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None/>
            </a:pPr>
            <a:r>
              <a:t/>
            </a:r>
            <a:endParaRPr/>
          </a:p>
        </p:txBody>
      </p:sp>
      <p:sp>
        <p:nvSpPr>
          <p:cNvPr id="151" name="Google Shape;151;g38bce4e0e8b_3_35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2" name="Google Shape;152;g38bce4e0e8b_3_35"/>
          <p:cNvSpPr txBox="1"/>
          <p:nvPr>
            <p:ph idx="10" type="dt"/>
          </p:nvPr>
        </p:nvSpPr>
        <p:spPr>
          <a:xfrm>
            <a:off x="7924800" y="6284674"/>
            <a:ext cx="28779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01/07/19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8bce4e0e8b_3_42"/>
          <p:cNvSpPr txBox="1"/>
          <p:nvPr>
            <p:ph type="title"/>
          </p:nvPr>
        </p:nvSpPr>
        <p:spPr>
          <a:xfrm>
            <a:off x="594303" y="26670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rPr lang="en-US"/>
              <a:t>NEXT SET OF WORK</a:t>
            </a:r>
            <a:endParaRPr/>
          </a:p>
        </p:txBody>
      </p:sp>
      <p:sp>
        <p:nvSpPr>
          <p:cNvPr id="158" name="Google Shape;158;g38bce4e0e8b_3_42"/>
          <p:cNvSpPr txBox="1"/>
          <p:nvPr>
            <p:ph idx="1" type="body"/>
          </p:nvPr>
        </p:nvSpPr>
        <p:spPr>
          <a:xfrm>
            <a:off x="594302" y="2028450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55000" lnSpcReduction="20000"/>
          </a:bodyPr>
          <a:lstStyle/>
          <a:p>
            <a:pPr indent="-37604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Arial"/>
              <a:buChar char="-"/>
            </a:pPr>
            <a:r>
              <a:rPr lang="en-US" sz="4221">
                <a:latin typeface="Helvetica Neue"/>
                <a:ea typeface="Helvetica Neue"/>
                <a:cs typeface="Helvetica Neue"/>
                <a:sym typeface="Helvetica Neue"/>
              </a:rPr>
              <a:t>Optimize Quadtree: adaptive splitting till ROI purity/min size.</a:t>
            </a:r>
            <a:br>
              <a:rPr lang="en-US" sz="4221">
                <a:latin typeface="Helvetica Neue"/>
                <a:ea typeface="Helvetica Neue"/>
                <a:cs typeface="Helvetica Neue"/>
                <a:sym typeface="Helvetica Neue"/>
              </a:rPr>
            </a:br>
            <a:endParaRPr sz="4221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7604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-"/>
            </a:pPr>
            <a:r>
              <a:rPr lang="en-US" sz="4221">
                <a:latin typeface="Helvetica Neue"/>
                <a:ea typeface="Helvetica Neue"/>
                <a:cs typeface="Helvetica Neue"/>
                <a:sym typeface="Helvetica Neue"/>
              </a:rPr>
              <a:t>Segmentation-Guided Partitioning: use ROI boxes + grid for rest.</a:t>
            </a:r>
            <a:br>
              <a:rPr lang="en-US" sz="4221">
                <a:latin typeface="Helvetica Neue"/>
                <a:ea typeface="Helvetica Neue"/>
                <a:cs typeface="Helvetica Neue"/>
                <a:sym typeface="Helvetica Neue"/>
              </a:rPr>
            </a:br>
            <a:endParaRPr sz="4221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7604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-"/>
            </a:pPr>
            <a:r>
              <a:rPr lang="en-US" sz="4221">
                <a:latin typeface="Helvetica Neue"/>
                <a:ea typeface="Helvetica Neue"/>
                <a:cs typeface="Helvetica Neue"/>
                <a:sym typeface="Helvetica Neue"/>
              </a:rPr>
              <a:t>Hybrid Evaluation: compare both methods (mixed blocks, time, quality).</a:t>
            </a:r>
            <a:br>
              <a:rPr lang="en-US" sz="4221">
                <a:latin typeface="Helvetica Neue"/>
                <a:ea typeface="Helvetica Neue"/>
                <a:cs typeface="Helvetica Neue"/>
                <a:sym typeface="Helvetica Neue"/>
              </a:rPr>
            </a:br>
            <a:endParaRPr sz="4221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7604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-"/>
            </a:pPr>
            <a:r>
              <a:rPr lang="en-US" sz="4221">
                <a:latin typeface="Helvetica Neue"/>
                <a:ea typeface="Helvetica Neue"/>
                <a:cs typeface="Helvetica Neue"/>
                <a:sym typeface="Helvetica Neue"/>
              </a:rPr>
              <a:t>Adaptive Threshold: tune based on scene complexity.</a:t>
            </a:r>
            <a:br>
              <a:rPr lang="en-US" sz="4221">
                <a:latin typeface="Helvetica Neue"/>
                <a:ea typeface="Helvetica Neue"/>
                <a:cs typeface="Helvetica Neue"/>
                <a:sym typeface="Helvetica Neue"/>
              </a:rPr>
            </a:br>
            <a:endParaRPr sz="4221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7604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-"/>
            </a:pPr>
            <a:r>
              <a:rPr lang="en-US" sz="4221">
                <a:latin typeface="Helvetica Neue"/>
                <a:ea typeface="Helvetica Neue"/>
                <a:cs typeface="Helvetica Neue"/>
                <a:sym typeface="Helvetica Neue"/>
              </a:rPr>
              <a:t>Implementation Plan: prototype → integrate → evaluate.</a:t>
            </a:r>
            <a:br>
              <a:rPr lang="en-US" sz="4221">
                <a:latin typeface="Helvetica Neue"/>
                <a:ea typeface="Helvetica Neue"/>
                <a:cs typeface="Helvetica Neue"/>
                <a:sym typeface="Helvetica Neue"/>
              </a:rPr>
            </a:br>
            <a:endParaRPr sz="4221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Helvetica Neue Light"/>
              <a:buNone/>
            </a:pPr>
            <a:r>
              <a:t/>
            </a:r>
            <a:endParaRPr b="1"/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Helvetica Neue Light"/>
              <a:buNone/>
            </a:pPr>
            <a:r>
              <a:t/>
            </a:r>
            <a:endParaRPr/>
          </a:p>
        </p:txBody>
      </p:sp>
      <p:sp>
        <p:nvSpPr>
          <p:cNvPr id="159" name="Google Shape;159;g38bce4e0e8b_3_42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0" name="Google Shape;160;g38bce4e0e8b_3_42"/>
          <p:cNvSpPr txBox="1"/>
          <p:nvPr>
            <p:ph idx="10" type="dt"/>
          </p:nvPr>
        </p:nvSpPr>
        <p:spPr>
          <a:xfrm>
            <a:off x="7924800" y="6284674"/>
            <a:ext cx="28779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01/07/19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8bce4e0e8b_3_49"/>
          <p:cNvSpPr txBox="1"/>
          <p:nvPr>
            <p:ph type="title"/>
          </p:nvPr>
        </p:nvSpPr>
        <p:spPr>
          <a:xfrm>
            <a:off x="594303" y="26035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rPr lang="en-US"/>
              <a:t>REFERENCES</a:t>
            </a:r>
            <a:endParaRPr/>
          </a:p>
        </p:txBody>
      </p:sp>
      <p:sp>
        <p:nvSpPr>
          <p:cNvPr id="166" name="Google Shape;166;g38bce4e0e8b_3_49"/>
          <p:cNvSpPr txBox="1"/>
          <p:nvPr>
            <p:ph idx="1" type="body"/>
          </p:nvPr>
        </p:nvSpPr>
        <p:spPr>
          <a:xfrm>
            <a:off x="594302" y="142567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965"/>
          </a:p>
          <a:p>
            <a:pPr indent="-34406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Helvetica Neue"/>
              <a:buChar char="-"/>
            </a:pPr>
            <a:r>
              <a:rPr lang="en-US" sz="7273">
                <a:latin typeface="Helvetica Neue"/>
                <a:ea typeface="Helvetica Neue"/>
                <a:cs typeface="Helvetica Neue"/>
                <a:sym typeface="Helvetica Neue"/>
              </a:rPr>
              <a:t>Ungureanu, V.-I., Negirla, P., &amp; Korodi, A. (2024). *Image-compression techniques: Classical and “region-of-interest-based” approaches presented in recent papers*. *Sensors, 24*(3), 791. [https://doi.org/10.3390/s24030791](https://doi.org/10.3390/s24030791) </a:t>
            </a:r>
            <a:endParaRPr sz="7273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273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406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Helvetica Neue"/>
              <a:buChar char="-"/>
            </a:pPr>
            <a:r>
              <a:rPr lang="en-US" sz="7273">
                <a:latin typeface="Helvetica Neue"/>
                <a:ea typeface="Helvetica Neue"/>
                <a:cs typeface="Helvetica Neue"/>
                <a:sym typeface="Helvetica Neue"/>
              </a:rPr>
              <a:t>Kafashan, M., Hosseini, H., Beygiharchegani, S., Pad, P., &amp; Marvasti, F. (2010, October). </a:t>
            </a:r>
            <a:r>
              <a:rPr i="1" lang="en-US" sz="7273">
                <a:latin typeface="Helvetica Neue"/>
                <a:ea typeface="Helvetica Neue"/>
                <a:cs typeface="Helvetica Neue"/>
                <a:sym typeface="Helvetica Neue"/>
              </a:rPr>
              <a:t>New rectangular partitioning methods for lossless binary image compression</a:t>
            </a:r>
            <a:r>
              <a:rPr lang="en-US" sz="7273">
                <a:latin typeface="Helvetica Neue"/>
                <a:ea typeface="Helvetica Neue"/>
                <a:cs typeface="Helvetica Neue"/>
                <a:sym typeface="Helvetica Neue"/>
              </a:rPr>
              <a:t>. In </a:t>
            </a:r>
            <a:r>
              <a:rPr i="1" lang="en-US" sz="7273">
                <a:latin typeface="Helvetica Neue"/>
                <a:ea typeface="Helvetica Neue"/>
                <a:cs typeface="Helvetica Neue"/>
                <a:sym typeface="Helvetica Neue"/>
              </a:rPr>
              <a:t>2010 IEEE 10th International Conference on Signal Processing (ICSP)</a:t>
            </a:r>
            <a:r>
              <a:rPr lang="en-US" sz="7273">
                <a:latin typeface="Helvetica Neue"/>
                <a:ea typeface="Helvetica Neue"/>
                <a:cs typeface="Helvetica Neue"/>
                <a:sym typeface="Helvetica Neue"/>
              </a:rPr>
              <a:t>. IEEE. https://doi.org/10.1109/ICOSP.2010.5655736</a:t>
            </a:r>
            <a:endParaRPr sz="7273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273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406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Helvetica Neue"/>
              <a:buChar char="-"/>
            </a:pPr>
            <a:r>
              <a:rPr lang="en-US" sz="7273">
                <a:latin typeface="Helvetica Neue"/>
                <a:ea typeface="Helvetica Neue"/>
                <a:cs typeface="Helvetica Neue"/>
                <a:sym typeface="Helvetica Neue"/>
              </a:rPr>
              <a:t>Bairagi, V., &amp; Sapkal, A. M. (2013). ROI-based DICOM image compression for telemedicine. Indian Academy of Sciences, 38(1), 123–131. </a:t>
            </a:r>
            <a:r>
              <a:rPr lang="en-US" sz="7273" u="sng">
                <a:solidFill>
                  <a:schemeClr val="hlink"/>
                </a:solidFill>
                <a:latin typeface="Helvetica Neue"/>
                <a:ea typeface="Helvetica Neue"/>
                <a:cs typeface="Helvetica Neue"/>
                <a:sym typeface="Helvetica Neue"/>
                <a:hlinkClick r:id="rId3"/>
              </a:rPr>
              <a:t>https://www.ias.ac.in/public/Volumes/sadh/038/01/0123-0131.pdf</a:t>
            </a:r>
            <a:endParaRPr sz="7273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273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273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406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Helvetica Neue"/>
              <a:buChar char="-"/>
            </a:pPr>
            <a:r>
              <a:rPr lang="en-US" sz="7273">
                <a:latin typeface="Helvetica Neue"/>
                <a:ea typeface="Helvetica Neue"/>
                <a:cs typeface="Helvetica Neue"/>
                <a:sym typeface="Helvetica Neue"/>
              </a:rPr>
              <a:t>Dataset-https://www.kaggle.com/navoneel/brain-mri-images-for-brain-tumor-detection</a:t>
            </a:r>
            <a:endParaRPr sz="7273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273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406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Helvetica Neue"/>
              <a:buChar char="-"/>
            </a:pPr>
            <a:r>
              <a:rPr lang="en-US" sz="7273">
                <a:latin typeface="Helvetica Neue"/>
                <a:ea typeface="Helvetica Neue"/>
                <a:cs typeface="Helvetica Neue"/>
                <a:sym typeface="Helvetica Neue"/>
              </a:rPr>
              <a:t>Kiran, R., &amp; Kamargaonkar, C. (2016, March). Region based medical image compression using block-based PCA. In 2016 International Conference on Computation of Power, Energy, Information and Communication (ICCPEIC). IEEE. </a:t>
            </a:r>
            <a:r>
              <a:rPr lang="en-US" sz="7273" u="sng">
                <a:solidFill>
                  <a:schemeClr val="hlink"/>
                </a:solidFill>
                <a:latin typeface="Helvetica Neue"/>
                <a:ea typeface="Helvetica Neue"/>
                <a:cs typeface="Helvetica Neue"/>
                <a:sym typeface="Helvetica Neue"/>
                <a:hlinkClick r:id="rId4"/>
              </a:rPr>
              <a:t>https://doi.org/10.1109/ICCPEIC.2016.7557289</a:t>
            </a:r>
            <a:r>
              <a:rPr lang="en-US" sz="7273"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sz="7273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7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Helvetica Neue Light"/>
              <a:buNone/>
            </a:pPr>
            <a:r>
              <a:t/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Helvetica Neue Light"/>
              <a:buNone/>
            </a:pPr>
            <a:r>
              <a:t/>
            </a:r>
            <a:endParaRPr/>
          </a:p>
        </p:txBody>
      </p:sp>
      <p:sp>
        <p:nvSpPr>
          <p:cNvPr id="167" name="Google Shape;167;g38bce4e0e8b_3_49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8" name="Google Shape;168;g38bce4e0e8b_3_49"/>
          <p:cNvSpPr txBox="1"/>
          <p:nvPr>
            <p:ph idx="10" type="dt"/>
          </p:nvPr>
        </p:nvSpPr>
        <p:spPr>
          <a:xfrm>
            <a:off x="7924800" y="6284674"/>
            <a:ext cx="28779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01/07/19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Ahmedabad University ">
      <a:dk1>
        <a:srgbClr val="000000"/>
      </a:dk1>
      <a:lt1>
        <a:srgbClr val="FFFFFF"/>
      </a:lt1>
      <a:dk2>
        <a:srgbClr val="7D1916"/>
      </a:dk2>
      <a:lt2>
        <a:srgbClr val="F2F1EE"/>
      </a:lt2>
      <a:accent1>
        <a:srgbClr val="894C00"/>
      </a:accent1>
      <a:accent2>
        <a:srgbClr val="7F4700"/>
      </a:accent2>
      <a:accent3>
        <a:srgbClr val="A5A5A5"/>
      </a:accent3>
      <a:accent4>
        <a:srgbClr val="BC933E"/>
      </a:accent4>
      <a:accent5>
        <a:srgbClr val="000000"/>
      </a:accent5>
      <a:accent6>
        <a:srgbClr val="FEFFFF"/>
      </a:accent6>
      <a:hlink>
        <a:srgbClr val="000000"/>
      </a:hlink>
      <a:folHlink>
        <a:srgbClr val="FE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