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6858000" cx="12192000"/>
  <p:notesSz cx="6858000" cy="9144000"/>
  <p:embeddedFontLst>
    <p:embeddedFont>
      <p:font typeface="Helvetica Neue"/>
      <p:regular r:id="rId15"/>
      <p:bold r:id="rId16"/>
      <p:italic r:id="rId17"/>
      <p:boldItalic r:id="rId18"/>
    </p:embeddedFont>
    <p:embeddedFont>
      <p:font typeface="Helvetica Neue Light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3" roundtripDataSignature="AMtx7mgwwZWTzN/MqYL8DtkhuvpgUGGoz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2DC0C1B-D259-40A4-92B4-76CB2323FE3A}">
  <a:tblStyle styleId="{C2DC0C1B-D259-40A4-92B4-76CB2323FE3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32FF984F-F0BA-4DF6-9084-0547D49C0DCB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HelveticaNeueLight-bold.fntdata"/><Relationship Id="rId11" Type="http://schemas.openxmlformats.org/officeDocument/2006/relationships/slide" Target="slides/slide6.xml"/><Relationship Id="rId22" Type="http://schemas.openxmlformats.org/officeDocument/2006/relationships/font" Target="fonts/HelveticaNeueLight-boldItalic.fntdata"/><Relationship Id="rId10" Type="http://schemas.openxmlformats.org/officeDocument/2006/relationships/slide" Target="slides/slide5.xml"/><Relationship Id="rId21" Type="http://schemas.openxmlformats.org/officeDocument/2006/relationships/font" Target="fonts/HelveticaNeueLight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HelveticaNeue-regular.fntdata"/><Relationship Id="rId14" Type="http://schemas.openxmlformats.org/officeDocument/2006/relationships/slide" Target="slides/slide9.xml"/><Relationship Id="rId17" Type="http://schemas.openxmlformats.org/officeDocument/2006/relationships/font" Target="fonts/HelveticaNeue-italic.fntdata"/><Relationship Id="rId16" Type="http://schemas.openxmlformats.org/officeDocument/2006/relationships/font" Target="fonts/HelveticaNeue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HelveticaNeueLight-regular.fntdata"/><Relationship Id="rId6" Type="http://schemas.openxmlformats.org/officeDocument/2006/relationships/slide" Target="slides/slide1.xml"/><Relationship Id="rId18" Type="http://schemas.openxmlformats.org/officeDocument/2006/relationships/font" Target="fonts/HelveticaNeue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8bce4e0e8b_3_3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1" name="Google Shape;91;g38bce4e0e8b_3_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865696570e_0_7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2" name="Google Shape;102;g3865696570e_0_7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8bce4e0e8b_3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1" name="Google Shape;111;g38bce4e0e8b_3_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0" name="Google Shape;12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8bce4e0e8b_3_7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8" name="Google Shape;128;g38bce4e0e8b_3_7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865696570e_0_5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9" name="Google Shape;139;g3865696570e_0_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865696570e_0_18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8" name="Google Shape;148;g3865696570e_0_18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8bce4e0e8b_3_4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8" name="Google Shape;158;g38bce4e0e8b_3_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bg>
      <p:bgPr>
        <a:solidFill>
          <a:srgbClr val="801B19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/>
          <p:nvPr>
            <p:ph type="title"/>
          </p:nvPr>
        </p:nvSpPr>
        <p:spPr>
          <a:xfrm>
            <a:off x="844150" y="3874808"/>
            <a:ext cx="10515600" cy="835416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Helvetica Neue"/>
              <a:buNone/>
              <a:defRPr sz="3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0" name="Google Shape;20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42932" y="1479396"/>
            <a:ext cx="4106136" cy="13477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7"/>
          <p:cNvSpPr txBox="1"/>
          <p:nvPr>
            <p:ph type="title"/>
          </p:nvPr>
        </p:nvSpPr>
        <p:spPr>
          <a:xfrm>
            <a:off x="594303" y="2667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  <a:defRPr sz="40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7"/>
          <p:cNvSpPr txBox="1"/>
          <p:nvPr>
            <p:ph idx="1" type="body"/>
          </p:nvPr>
        </p:nvSpPr>
        <p:spPr>
          <a:xfrm>
            <a:off x="582427" y="1768950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Char char="•"/>
              <a:defRPr sz="2400"/>
            </a:lvl1pPr>
            <a:lvl2pPr indent="-355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Char char="•"/>
              <a:defRPr sz="20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Char char="•"/>
              <a:defRPr sz="1800"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Char char="•"/>
              <a:defRPr sz="1600"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Char char="•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7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25" name="Google Shape;25;p7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6" name="Google Shape;26;p7"/>
          <p:cNvPicPr preferRelativeResize="0"/>
          <p:nvPr/>
        </p:nvPicPr>
        <p:blipFill rotWithShape="1">
          <a:blip r:embed="rId2">
            <a:alphaModFix/>
          </a:blip>
          <a:srcRect b="38397" l="29654" r="29479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73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4247">
          <p15:clr>
            <a:srgbClr val="FBAE40"/>
          </p15:clr>
        </p15:guide>
        <p15:guide id="4" orient="horz" pos="164">
          <p15:clr>
            <a:srgbClr val="FBAE40"/>
          </p15:clr>
        </p15:guide>
        <p15:guide id="5" orient="horz" pos="1003">
          <p15:clr>
            <a:srgbClr val="FBAE40"/>
          </p15:clr>
        </p15:guide>
        <p15:guide id="6" pos="121">
          <p15:clr>
            <a:srgbClr val="FBAE40"/>
          </p15:clr>
        </p15:guide>
        <p15:guide id="7" pos="370">
          <p15:clr>
            <a:srgbClr val="FBAE40"/>
          </p15:clr>
        </p15:guide>
        <p15:guide id="8" orient="horz" pos="1117">
          <p15:clr>
            <a:srgbClr val="FBAE40"/>
          </p15:clr>
        </p15:guide>
        <p15:guide id="9" pos="6992">
          <p15:clr>
            <a:srgbClr val="FBAE40"/>
          </p15:clr>
        </p15:guide>
        <p15:guide id="10" orient="horz" pos="3861">
          <p15:clr>
            <a:srgbClr val="FBAE40"/>
          </p15:clr>
        </p15:guide>
        <p15:guide id="11" pos="7559">
          <p15:clr>
            <a:srgbClr val="FBAE40"/>
          </p15:clr>
        </p15:guide>
        <p15:guide id="12" orient="horz" pos="3952">
          <p15:clr>
            <a:srgbClr val="FBAE40"/>
          </p15:clr>
        </p15:guide>
        <p15:guide id="13" orient="horz" pos="4201">
          <p15:clr>
            <a:srgbClr val="FBAE40"/>
          </p15:clr>
        </p15:guide>
        <p15:guide id="14" orient="horz" pos="411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Helvetica Neue"/>
              <a:buNone/>
              <a:defRPr sz="54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Helvetica Neue Light"/>
              <a:buNone/>
              <a:defRPr b="0" i="0" sz="2000">
                <a:solidFill>
                  <a:srgbClr val="888888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Helvetica Neue Light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Helvetica Neue Light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Helvetica Neue Light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Helvetica Neue Light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31" name="Google Shape;31;p6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2" name="Google Shape;32;p6"/>
          <p:cNvPicPr preferRelativeResize="0"/>
          <p:nvPr/>
        </p:nvPicPr>
        <p:blipFill rotWithShape="1">
          <a:blip r:embed="rId2">
            <a:alphaModFix/>
          </a:blip>
          <a:srcRect b="38397" l="29654" r="29479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8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8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38" name="Google Shape;38;p8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9" name="Google Shape;39;p8"/>
          <p:cNvPicPr preferRelativeResize="0"/>
          <p:nvPr/>
        </p:nvPicPr>
        <p:blipFill rotWithShape="1">
          <a:blip r:embed="rId2">
            <a:alphaModFix/>
          </a:blip>
          <a:srcRect b="38397" l="29654" r="29479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9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47" name="Google Shape;47;p9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8" name="Google Shape;48;p9"/>
          <p:cNvPicPr preferRelativeResize="0"/>
          <p:nvPr/>
        </p:nvPicPr>
        <p:blipFill rotWithShape="1">
          <a:blip r:embed="rId2">
            <a:alphaModFix/>
          </a:blip>
          <a:srcRect b="38397" l="29654" r="29479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0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52" name="Google Shape;52;p10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10"/>
          <p:cNvPicPr preferRelativeResize="0"/>
          <p:nvPr/>
        </p:nvPicPr>
        <p:blipFill rotWithShape="1">
          <a:blip r:embed="rId2">
            <a:alphaModFix/>
          </a:blip>
          <a:srcRect b="38397" l="29654" r="29479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56" name="Google Shape;56;p11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11"/>
          <p:cNvPicPr preferRelativeResize="0"/>
          <p:nvPr/>
        </p:nvPicPr>
        <p:blipFill rotWithShape="1">
          <a:blip r:embed="rId2">
            <a:alphaModFix/>
          </a:blip>
          <a:srcRect b="38397" l="29654" r="29479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2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 Light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 Light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2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 Light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 Light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 Light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 Light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63" name="Google Shape;63;p12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64" name="Google Shape;64;p12"/>
          <p:cNvPicPr preferRelativeResize="0"/>
          <p:nvPr/>
        </p:nvPicPr>
        <p:blipFill rotWithShape="1">
          <a:blip r:embed="rId2">
            <a:alphaModFix/>
          </a:blip>
          <a:srcRect b="38397" l="29654" r="29479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3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3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 Light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 Light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 Light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 Light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3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70" name="Google Shape;70;p13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71" name="Google Shape;71;p13"/>
          <p:cNvPicPr preferRelativeResize="0"/>
          <p:nvPr/>
        </p:nvPicPr>
        <p:blipFill rotWithShape="1">
          <a:blip r:embed="rId2">
            <a:alphaModFix/>
          </a:blip>
          <a:srcRect b="38397" l="29654" r="29479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4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4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76" name="Google Shape;76;p14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77" name="Google Shape;77;p14"/>
          <p:cNvPicPr preferRelativeResize="0"/>
          <p:nvPr/>
        </p:nvPicPr>
        <p:blipFill rotWithShape="1">
          <a:blip r:embed="rId2">
            <a:alphaModFix/>
          </a:blip>
          <a:srcRect b="38397" l="29654" r="29479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5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5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82" name="Google Shape;82;p15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83" name="Google Shape;83;p15"/>
          <p:cNvPicPr preferRelativeResize="0"/>
          <p:nvPr/>
        </p:nvPicPr>
        <p:blipFill rotWithShape="1">
          <a:blip r:embed="rId2">
            <a:alphaModFix/>
          </a:blip>
          <a:srcRect b="38397" l="29654" r="29479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  <a:defRPr b="1" i="0" sz="4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 Light"/>
              <a:buChar char="•"/>
              <a:defRPr b="0" i="0" sz="28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Char char="•"/>
              <a:defRPr b="0" i="0" sz="24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Char char="•"/>
              <a:defRPr b="0" i="0" sz="20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Char char="•"/>
              <a:defRPr b="0" i="0" sz="18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Char char="•"/>
              <a:defRPr b="0" i="0" sz="18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12" name="Google Shape;12;p4"/>
          <p:cNvGrpSpPr/>
          <p:nvPr/>
        </p:nvGrpSpPr>
        <p:grpSpPr>
          <a:xfrm>
            <a:off x="0" y="6756400"/>
            <a:ext cx="12192000" cy="105496"/>
            <a:chOff x="0" y="6756400"/>
            <a:chExt cx="12192000" cy="105496"/>
          </a:xfrm>
        </p:grpSpPr>
        <p:pic>
          <p:nvPicPr>
            <p:cNvPr id="13" name="Google Shape;13;p4"/>
            <p:cNvPicPr preferRelativeResize="0"/>
            <p:nvPr/>
          </p:nvPicPr>
          <p:blipFill rotWithShape="1">
            <a:blip r:embed="rId1">
              <a:alphaModFix/>
            </a:blip>
            <a:srcRect b="0" l="0" r="0" t="0"/>
            <a:stretch/>
          </p:blipFill>
          <p:spPr>
            <a:xfrm>
              <a:off x="1524000" y="6756400"/>
              <a:ext cx="91440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" name="Google Shape;14;p4"/>
            <p:cNvPicPr preferRelativeResize="0"/>
            <p:nvPr/>
          </p:nvPicPr>
          <p:blipFill rotWithShape="1">
            <a:blip r:embed="rId1">
              <a:alphaModFix/>
            </a:blip>
            <a:srcRect b="15585" l="0" r="71580" t="0"/>
            <a:stretch/>
          </p:blipFill>
          <p:spPr>
            <a:xfrm>
              <a:off x="0" y="6756400"/>
              <a:ext cx="2598717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5;p4"/>
            <p:cNvPicPr preferRelativeResize="0"/>
            <p:nvPr/>
          </p:nvPicPr>
          <p:blipFill rotWithShape="1">
            <a:blip r:embed="rId1">
              <a:alphaModFix/>
            </a:blip>
            <a:srcRect b="15585" l="0" r="71580" t="0"/>
            <a:stretch/>
          </p:blipFill>
          <p:spPr>
            <a:xfrm>
              <a:off x="9593283" y="6756400"/>
              <a:ext cx="2598717" cy="10549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" name="Google Shape;16;p4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17" name="Google Shape;17;p4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hyperlink" Target="https://www.kaggle.com/navoneel/brain-mri-images-for-brain-tumor-detection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doi.org/10.3390/s24030791%5D(https://doi.org/10.3390/s24030791" TargetMode="External"/><Relationship Id="rId4" Type="http://schemas.openxmlformats.org/officeDocument/2006/relationships/hyperlink" Target="https://doi.org/10.1109/ICOSP.2010.5655736" TargetMode="External"/><Relationship Id="rId5" Type="http://schemas.openxmlformats.org/officeDocument/2006/relationships/hyperlink" Target="https://www.ias.ac.in/public/Volumes/sadh/038/01/0123-0131" TargetMode="External"/><Relationship Id="rId6" Type="http://schemas.openxmlformats.org/officeDocument/2006/relationships/hyperlink" Target="https://doi.org/10.1109/ICCPEIC.2016.7557289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hyperlink" Target="https://www.kaggle.com/navoneel/brain-mri-images-for-brain-tumor-detection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hyperlink" Target="https://www.kaggle.com/datasets/nikhilroxtomar/person-segmentation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hyperlink" Target="https://www.kaggle.com/datasets/nikhilroxtomar/person-segmentation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doi.org/10.3390/s24030791%5D(https://doi.org/10.3390/s24030791" TargetMode="External"/><Relationship Id="rId4" Type="http://schemas.openxmlformats.org/officeDocument/2006/relationships/hyperlink" Target="https://doi.org/10.1109/ICOSP.2010.5655736" TargetMode="External"/><Relationship Id="rId5" Type="http://schemas.openxmlformats.org/officeDocument/2006/relationships/hyperlink" Target="https://www.ias.ac.in/public/Volumes/sadh/038/01/0123-0131.pdf" TargetMode="External"/><Relationship Id="rId6" Type="http://schemas.openxmlformats.org/officeDocument/2006/relationships/hyperlink" Target="https://doi.org/10.1109/ICCPEIC.2016.7557289" TargetMode="External"/><Relationship Id="rId7" Type="http://schemas.openxmlformats.org/officeDocument/2006/relationships/hyperlink" Target="https://www.kaggle.com/datasets/nikhilroxtomar/person-segmentation" TargetMode="External"/><Relationship Id="rId8" Type="http://schemas.openxmlformats.org/officeDocument/2006/relationships/hyperlink" Target="https://www.kaggle.com/navoneel/brain-mri-images-for-brain-tumor-detection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>
            <p:ph type="title"/>
          </p:nvPr>
        </p:nvSpPr>
        <p:spPr>
          <a:xfrm>
            <a:off x="844150" y="3874803"/>
            <a:ext cx="10515600" cy="2532900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Image Partitioning for Compact Encoding</a:t>
            </a:r>
            <a:endParaRPr sz="2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Group - 4</a:t>
            </a:r>
            <a:endParaRPr sz="25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Hetvi Shah(AU2340101)                               Twisha Patel(AU2340056)</a:t>
            </a:r>
            <a:endParaRPr sz="24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Manushree Patel(AU2340014)                    Sanya Shah(AU2340259)</a:t>
            </a:r>
            <a:endParaRPr sz="24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43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8bce4e0e8b_3_35"/>
          <p:cNvSpPr txBox="1"/>
          <p:nvPr>
            <p:ph type="title"/>
          </p:nvPr>
        </p:nvSpPr>
        <p:spPr>
          <a:xfrm>
            <a:off x="587378" y="17960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</a:pPr>
            <a:r>
              <a:rPr lang="en-US"/>
              <a:t>WORK BEFORE MIDSEM</a:t>
            </a:r>
            <a:endParaRPr/>
          </a:p>
        </p:txBody>
      </p:sp>
      <p:sp>
        <p:nvSpPr>
          <p:cNvPr id="94" name="Google Shape;94;g38bce4e0e8b_3_35"/>
          <p:cNvSpPr txBox="1"/>
          <p:nvPr>
            <p:ph idx="1" type="body"/>
          </p:nvPr>
        </p:nvSpPr>
        <p:spPr>
          <a:xfrm>
            <a:off x="287100" y="1592275"/>
            <a:ext cx="10515600" cy="42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b="1" sz="110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latin typeface="Helvetica Neue"/>
                <a:ea typeface="Helvetica Neue"/>
                <a:cs typeface="Helvetica Neue"/>
                <a:sym typeface="Helvetica Neue"/>
              </a:rPr>
              <a:t>ROI-Based Compression</a:t>
            </a:r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Helvetica Neue"/>
              <a:buChar char="-"/>
            </a:pPr>
            <a:r>
              <a:rPr lang="en-US" sz="1800">
                <a:latin typeface="Helvetica Neue"/>
                <a:ea typeface="Helvetica Neue"/>
                <a:cs typeface="Helvetica Neue"/>
                <a:sym typeface="Helvetica Neue"/>
              </a:rPr>
              <a:t>Detect ROI &amp; divide image into blocks</a:t>
            </a:r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Helvetica Neue"/>
              <a:buChar char="-"/>
            </a:pPr>
            <a:r>
              <a:rPr lang="en-US" sz="1800">
                <a:latin typeface="Helvetica Neue"/>
                <a:ea typeface="Helvetica Neue"/>
                <a:cs typeface="Helvetica Neue"/>
                <a:sym typeface="Helvetica Neue"/>
              </a:rPr>
              <a:t>Classify blocks: ROI(Sharpen) / RONI(Strong lossy compression) / Mixed (Wavelet enhancement)</a:t>
            </a:r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Helvetica Neue"/>
              <a:buChar char="-"/>
            </a:pPr>
            <a:r>
              <a:rPr lang="en-US" sz="1800">
                <a:latin typeface="Helvetica Neue"/>
                <a:ea typeface="Helvetica Neue"/>
                <a:cs typeface="Helvetica Neue"/>
                <a:sym typeface="Helvetica Neue"/>
              </a:rPr>
              <a:t>Sharpen ROI, compress RONI</a:t>
            </a:r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Helvetica Neue"/>
              <a:buChar char="-"/>
            </a:pPr>
            <a:r>
              <a:rPr lang="en-US" sz="1800">
                <a:latin typeface="Helvetica Neue"/>
                <a:ea typeface="Helvetica Neue"/>
                <a:cs typeface="Helvetica Neue"/>
                <a:sym typeface="Helvetica Neue"/>
              </a:rPr>
              <a:t>Enhance mixed blocks using wavelets</a:t>
            </a:r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Helvetica Neue"/>
              <a:buChar char="-"/>
            </a:pPr>
            <a:r>
              <a:rPr lang="en-US" sz="1800">
                <a:latin typeface="Helvetica Neue"/>
                <a:ea typeface="Helvetica Neue"/>
                <a:cs typeface="Helvetica Neue"/>
                <a:sym typeface="Helvetica Neue"/>
              </a:rPr>
              <a:t>Result: ROI clear, size reduced</a:t>
            </a:r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15240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00"/>
              <a:buFont typeface="Helvetica Neue Light"/>
              <a:buNone/>
            </a:pPr>
            <a:r>
              <a:t/>
            </a:r>
            <a:endParaRPr b="1"/>
          </a:p>
          <a:p>
            <a:pPr indent="-76200" lvl="0" marL="2286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"/>
              <a:buFont typeface="Helvetica Neue Light"/>
              <a:buNone/>
            </a:pPr>
            <a:r>
              <a:t/>
            </a:r>
            <a:endParaRPr sz="1100"/>
          </a:p>
        </p:txBody>
      </p:sp>
      <p:sp>
        <p:nvSpPr>
          <p:cNvPr id="95" name="Google Shape;95;g38bce4e0e8b_3_35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-US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6" name="Google Shape;96;g38bce4e0e8b_3_35"/>
          <p:cNvSpPr txBox="1"/>
          <p:nvPr>
            <p:ph idx="10" type="dt"/>
          </p:nvPr>
        </p:nvSpPr>
        <p:spPr>
          <a:xfrm>
            <a:off x="7924800" y="6284674"/>
            <a:ext cx="28779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17/11/25</a:t>
            </a:r>
            <a:endParaRPr/>
          </a:p>
        </p:txBody>
      </p:sp>
      <p:pic>
        <p:nvPicPr>
          <p:cNvPr id="97" name="Google Shape;97;g38bce4e0e8b_3_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52500" y="4327625"/>
            <a:ext cx="7605524" cy="2048675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g38bce4e0e8b_3_35"/>
          <p:cNvSpPr txBox="1"/>
          <p:nvPr/>
        </p:nvSpPr>
        <p:spPr>
          <a:xfrm>
            <a:off x="4252500" y="6347625"/>
            <a:ext cx="5931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 u="sng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https://www.kaggle.com/navoneel/brain-mri-images-for-brain-tumor-detection</a:t>
            </a:r>
            <a:endParaRPr b="1" sz="1100"/>
          </a:p>
        </p:txBody>
      </p:sp>
      <p:sp>
        <p:nvSpPr>
          <p:cNvPr id="99" name="Google Shape;99;g38bce4e0e8b_3_35"/>
          <p:cNvSpPr txBox="1"/>
          <p:nvPr/>
        </p:nvSpPr>
        <p:spPr>
          <a:xfrm>
            <a:off x="2956850" y="1926125"/>
            <a:ext cx="6114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865696570e_0_71"/>
          <p:cNvSpPr txBox="1"/>
          <p:nvPr>
            <p:ph type="title"/>
          </p:nvPr>
        </p:nvSpPr>
        <p:spPr>
          <a:xfrm>
            <a:off x="582425" y="763900"/>
            <a:ext cx="10515600" cy="84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</a:pPr>
            <a:r>
              <a:rPr lang="en-US"/>
              <a:t>LITERATURE REVIEW</a:t>
            </a:r>
            <a:endParaRPr/>
          </a:p>
        </p:txBody>
      </p:sp>
      <p:sp>
        <p:nvSpPr>
          <p:cNvPr id="105" name="Google Shape;105;g3865696570e_0_71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106" name="Google Shape;106;g3865696570e_0_71"/>
          <p:cNvSpPr txBox="1"/>
          <p:nvPr>
            <p:ph idx="10" type="dt"/>
          </p:nvPr>
        </p:nvSpPr>
        <p:spPr>
          <a:xfrm>
            <a:off x="7924800" y="6284674"/>
            <a:ext cx="28779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17/11/25</a:t>
            </a:r>
            <a:endParaRPr/>
          </a:p>
        </p:txBody>
      </p:sp>
      <p:graphicFrame>
        <p:nvGraphicFramePr>
          <p:cNvPr id="107" name="Google Shape;107;g3865696570e_0_71"/>
          <p:cNvGraphicFramePr/>
          <p:nvPr/>
        </p:nvGraphicFramePr>
        <p:xfrm>
          <a:off x="812800" y="1773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{C2DC0C1B-D259-40A4-92B4-76CB2323FE3A}</a:tableStyleId>
              </a:tblPr>
              <a:tblGrid>
                <a:gridCol w="2571750"/>
                <a:gridCol w="2571750"/>
                <a:gridCol w="2571750"/>
                <a:gridCol w="2571750"/>
              </a:tblGrid>
              <a:tr h="824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Method</a:t>
                      </a:r>
                      <a:endParaRPr b="1" sz="17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Domain/Technique</a:t>
                      </a:r>
                      <a:endParaRPr b="1" sz="17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Strengths</a:t>
                      </a:r>
                      <a:endParaRPr b="1" sz="17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Limitations/Gaps</a:t>
                      </a:r>
                      <a:endParaRPr b="1" sz="17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JPEG/JPEG-LS</a:t>
                      </a:r>
                      <a:endParaRPr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Spatial, predictive &amp; entropy coding</a:t>
                      </a:r>
                      <a:endParaRPr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Simple, lossless compression</a:t>
                      </a:r>
                      <a:endParaRPr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Treats all regions equally; ROI not prioritized</a:t>
                      </a:r>
                      <a:endParaRPr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Block-based PCA</a:t>
                      </a:r>
                      <a:endParaRPr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Statistical feature reduction</a:t>
                      </a:r>
                      <a:endParaRPr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Reduces redundancy in local blocks</a:t>
                      </a:r>
                      <a:endParaRPr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Ignores spatial–frequency variations; ROI edges blurred</a:t>
                      </a:r>
                      <a:endParaRPr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JPEG 2000 (Wavelet ROI Coding)</a:t>
                      </a:r>
                      <a:endParaRPr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Wavelet transform with Maxshift ROI</a:t>
                      </a:r>
                      <a:endParaRPr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Multiresolution, better ROI preservation</a:t>
                      </a:r>
                      <a:endParaRPr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Mixed blocks cause ROI boundary distortion</a:t>
                      </a:r>
                      <a:endParaRPr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Proposed Method (Rectangular Partition + Wavelet/ Inverse Wavelet)</a:t>
                      </a:r>
                      <a:endParaRPr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Hybrid spatial–frequency approach</a:t>
                      </a:r>
                      <a:endParaRPr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ROI enhanced, Non-ROI blurred; mixed regions refined</a:t>
                      </a:r>
                      <a:endParaRPr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More computation, but highest diagnostic fidelity</a:t>
                      </a:r>
                      <a:endParaRPr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Segmentation-Guided ROI</a:t>
                      </a:r>
                      <a:endParaRPr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DL masks (MediaPipe), thresholding</a:t>
                      </a:r>
                      <a:endParaRPr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Automatic ROI; real-time; edge-device friendly</a:t>
                      </a:r>
                      <a:endParaRPr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Runtime cost; model dependence</a:t>
                      </a:r>
                      <a:endParaRPr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8" name="Google Shape;108;g3865696570e_0_71"/>
          <p:cNvSpPr txBox="1"/>
          <p:nvPr/>
        </p:nvSpPr>
        <p:spPr>
          <a:xfrm>
            <a:off x="6309725" y="1900450"/>
            <a:ext cx="5822100" cy="214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 u="sng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https://doi.org/10.3390/s24030791](https://doi.org/10.3390/s24030791</a:t>
            </a:r>
            <a:endParaRPr b="1" sz="11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 u="sng">
                <a:solidFill>
                  <a:schemeClr val="hlink"/>
                </a:solidFill>
                <a:latin typeface="Helvetica Neue"/>
                <a:ea typeface="Helvetica Neue"/>
                <a:cs typeface="Helvetica Neue"/>
                <a:sym typeface="Helvetica Neue"/>
                <a:hlinkClick r:id="rId4"/>
              </a:rPr>
              <a:t>https://doi.org/10.1109/ICOSP.2010.5655736</a:t>
            </a:r>
            <a:r>
              <a:rPr b="1" lang="en-US" sz="1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</a:t>
            </a:r>
            <a:endParaRPr b="1" sz="11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 u="sng">
                <a:solidFill>
                  <a:schemeClr val="hlink"/>
                </a:solidFill>
                <a:latin typeface="Helvetica Neue"/>
                <a:ea typeface="Helvetica Neue"/>
                <a:cs typeface="Helvetica Neue"/>
                <a:sym typeface="Helvetica Neue"/>
                <a:hlinkClick r:id="rId5"/>
              </a:rPr>
              <a:t>https://www.ias.ac.in/public/Volumes/sadh/038/01/0123-0131</a:t>
            </a:r>
            <a:r>
              <a:rPr b="1" lang="en-US" sz="1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b="1" sz="11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 u="sng">
                <a:solidFill>
                  <a:schemeClr val="hlink"/>
                </a:solidFill>
                <a:latin typeface="Helvetica Neue"/>
                <a:ea typeface="Helvetica Neue"/>
                <a:cs typeface="Helvetica Neue"/>
                <a:sym typeface="Helvetica Neue"/>
                <a:hlinkClick r:id="rId6"/>
              </a:rPr>
              <a:t>https://doi.org/10.1109/ICCPEIC.2016.7557289</a:t>
            </a:r>
            <a:r>
              <a:rPr b="1" lang="en-US" sz="1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b="1" sz="11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8bce4e0e8b_3_7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-US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4" name="Google Shape;114;g38bce4e0e8b_3_7"/>
          <p:cNvSpPr txBox="1"/>
          <p:nvPr>
            <p:ph idx="10" type="dt"/>
          </p:nvPr>
        </p:nvSpPr>
        <p:spPr>
          <a:xfrm>
            <a:off x="7924800" y="6284674"/>
            <a:ext cx="28779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17/11/25</a:t>
            </a:r>
            <a:endParaRPr/>
          </a:p>
        </p:txBody>
      </p:sp>
      <p:pic>
        <p:nvPicPr>
          <p:cNvPr id="115" name="Google Shape;115;g38bce4e0e8b_3_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0950" y="539289"/>
            <a:ext cx="11730100" cy="246791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16" name="Google Shape;116;g38bce4e0e8b_3_7"/>
          <p:cNvGraphicFramePr/>
          <p:nvPr/>
        </p:nvGraphicFramePr>
        <p:xfrm>
          <a:off x="220013" y="3188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{32FF984F-F0BA-4DF6-9084-0547D49C0DCB}</a:tableStyleId>
              </a:tblPr>
              <a:tblGrid>
                <a:gridCol w="2414275"/>
                <a:gridCol w="2330325"/>
                <a:gridCol w="2370575"/>
                <a:gridCol w="2319525"/>
                <a:gridCol w="2239575"/>
              </a:tblGrid>
              <a:tr h="3946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Metric</a:t>
                      </a:r>
                      <a:endParaRPr b="1" sz="13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JPEG / JPEG-LS</a:t>
                      </a:r>
                      <a:endParaRPr b="1" sz="13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Block-based PCA</a:t>
                      </a:r>
                      <a:endParaRPr b="1" sz="13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JPEG 2000 (ROI)</a:t>
                      </a:r>
                      <a:endParaRPr b="1" sz="13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Proposed Hybrid</a:t>
                      </a:r>
                      <a:endParaRPr b="1" sz="13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File Size (KB)</a:t>
                      </a:r>
                      <a:endParaRPr sz="11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14.12</a:t>
                      </a:r>
                      <a:endParaRPr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2.35</a:t>
                      </a:r>
                      <a:endParaRPr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12.98</a:t>
                      </a:r>
                      <a:endParaRPr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12.47</a:t>
                      </a:r>
                      <a:endParaRPr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Global PSNR</a:t>
                      </a:r>
                      <a:endParaRPr sz="11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39.1634</a:t>
                      </a:r>
                      <a:endParaRPr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14.6744</a:t>
                      </a:r>
                      <a:endParaRPr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35.5782</a:t>
                      </a:r>
                      <a:endParaRPr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29.4440</a:t>
                      </a:r>
                      <a:endParaRPr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Global SSIM</a:t>
                      </a:r>
                      <a:endParaRPr sz="11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0.9520</a:t>
                      </a:r>
                      <a:endParaRPr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0.4198</a:t>
                      </a:r>
                      <a:endParaRPr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0.9867</a:t>
                      </a:r>
                      <a:endParaRPr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0.8223</a:t>
                      </a:r>
                      <a:endParaRPr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4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ROI PSNR</a:t>
                      </a:r>
                      <a:endParaRPr sz="11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37.0445</a:t>
                      </a:r>
                      <a:endParaRPr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7.5078</a:t>
                      </a:r>
                      <a:endParaRPr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32.6101</a:t>
                      </a:r>
                      <a:endParaRPr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34.7212</a:t>
                      </a:r>
                      <a:endParaRPr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ROI SSIM</a:t>
                      </a:r>
                      <a:endParaRPr sz="11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0.9520</a:t>
                      </a:r>
                      <a:endParaRPr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0.4198</a:t>
                      </a:r>
                      <a:endParaRPr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0.9867</a:t>
                      </a:r>
                      <a:endParaRPr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0.8223</a:t>
                      </a:r>
                      <a:endParaRPr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HQI</a:t>
                      </a:r>
                      <a:endParaRPr sz="11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0.9502</a:t>
                      </a:r>
                      <a:endParaRPr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0.4474</a:t>
                      </a:r>
                      <a:endParaRPr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0.9657</a:t>
                      </a:r>
                      <a:endParaRPr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0.9294</a:t>
                      </a:r>
                      <a:endParaRPr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7" name="Google Shape;117;g38bce4e0e8b_3_7"/>
          <p:cNvSpPr txBox="1"/>
          <p:nvPr/>
        </p:nvSpPr>
        <p:spPr>
          <a:xfrm>
            <a:off x="6531675" y="185300"/>
            <a:ext cx="5468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 u="sng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https://www.kaggle.com/navoneel/brain-mri-images-for-brain-tumor-detection</a:t>
            </a:r>
            <a:endParaRPr b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"/>
          <p:cNvSpPr txBox="1"/>
          <p:nvPr>
            <p:ph type="title"/>
          </p:nvPr>
        </p:nvSpPr>
        <p:spPr>
          <a:xfrm>
            <a:off x="594303" y="2667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</a:pPr>
            <a:r>
              <a:rPr lang="en-US"/>
              <a:t>UPDATED METHODOLOGY</a:t>
            </a:r>
            <a:endParaRPr/>
          </a:p>
        </p:txBody>
      </p:sp>
      <p:sp>
        <p:nvSpPr>
          <p:cNvPr id="123" name="Google Shape;123;p3"/>
          <p:cNvSpPr txBox="1"/>
          <p:nvPr>
            <p:ph idx="1" type="body"/>
          </p:nvPr>
        </p:nvSpPr>
        <p:spPr>
          <a:xfrm>
            <a:off x="594302" y="176287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Helvetica Neue"/>
              <a:buChar char="-"/>
            </a:pPr>
            <a:r>
              <a:rPr lang="en-US" sz="1800">
                <a:latin typeface="Helvetica Neue"/>
                <a:ea typeface="Helvetica Neue"/>
                <a:cs typeface="Helvetica Neue"/>
                <a:sym typeface="Helvetica Neue"/>
              </a:rPr>
              <a:t>ROI mask: MediaPipe person segmentation</a:t>
            </a:r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Helvetica Neue"/>
              <a:buChar char="-"/>
            </a:pPr>
            <a:r>
              <a:rPr lang="en-US" sz="1800">
                <a:latin typeface="Helvetica Neue"/>
                <a:ea typeface="Helvetica Neue"/>
                <a:cs typeface="Helvetica Neue"/>
                <a:sym typeface="Helvetica Neue"/>
              </a:rPr>
              <a:t>Block split: Compute ROI ratio per block (r)</a:t>
            </a:r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Helvetica Neue"/>
              <a:buChar char="-"/>
            </a:pPr>
            <a:r>
              <a:rPr lang="en-US" sz="1800">
                <a:latin typeface="Helvetica Neue"/>
                <a:ea typeface="Helvetica Neue"/>
                <a:cs typeface="Helvetica Neue"/>
                <a:sym typeface="Helvetica Neue"/>
              </a:rPr>
              <a:t>Classify blocks: ROI (r ≥ 0.80) / Mixed (0.01&lt; r &lt;0.80) / RONI (r≤0.01)</a:t>
            </a:r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Helvetica Neue"/>
              <a:buChar char="-"/>
            </a:pPr>
            <a:r>
              <a:rPr lang="en-US" sz="1800">
                <a:latin typeface="Helvetica Neue"/>
                <a:ea typeface="Helvetica Neue"/>
                <a:cs typeface="Helvetica Neue"/>
                <a:sym typeface="Helvetica Neue"/>
              </a:rPr>
              <a:t>Process:</a:t>
            </a:r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00">
                <a:latin typeface="Helvetica Neue"/>
                <a:ea typeface="Helvetica Neue"/>
                <a:cs typeface="Helvetica Neue"/>
                <a:sym typeface="Helvetica Neue"/>
              </a:rPr>
              <a:t>- ROI → sharpen</a:t>
            </a:r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00">
                <a:latin typeface="Helvetica Neue"/>
                <a:ea typeface="Helvetica Neue"/>
                <a:cs typeface="Helvetica Neue"/>
                <a:sym typeface="Helvetica Neue"/>
              </a:rPr>
              <a:t>- Mixed → mild enhance</a:t>
            </a:r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00">
                <a:latin typeface="Helvetica Neue"/>
                <a:ea typeface="Helvetica Neue"/>
                <a:cs typeface="Helvetica Neue"/>
                <a:sym typeface="Helvetica Neue"/>
              </a:rPr>
              <a:t>- RONI → strong blur + quantize</a:t>
            </a:r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00">
                <a:latin typeface="Helvetica Neue"/>
                <a:ea typeface="Helvetica Neue"/>
                <a:cs typeface="Helvetica Neue"/>
                <a:sym typeface="Helvetica Neue"/>
              </a:rPr>
              <a:t> - Recombine blocks</a:t>
            </a:r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00">
                <a:latin typeface="Helvetica Neue"/>
                <a:ea typeface="Helvetica Neue"/>
                <a:cs typeface="Helvetica Neue"/>
                <a:sym typeface="Helvetica Neue"/>
              </a:rPr>
              <a:t> - Final step: Low-quality JPEG for max compression</a:t>
            </a:r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4" name="Google Shape;124;p3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-US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5" name="Google Shape;125;p3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17/11/25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8bce4e0e8b_3_77"/>
          <p:cNvSpPr txBox="1"/>
          <p:nvPr>
            <p:ph type="title"/>
          </p:nvPr>
        </p:nvSpPr>
        <p:spPr>
          <a:xfrm>
            <a:off x="594303" y="11590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</a:pPr>
            <a:r>
              <a:rPr lang="en-US"/>
              <a:t>RESULTS</a:t>
            </a:r>
            <a:endParaRPr/>
          </a:p>
        </p:txBody>
      </p:sp>
      <p:sp>
        <p:nvSpPr>
          <p:cNvPr id="131" name="Google Shape;131;g38bce4e0e8b_3_77"/>
          <p:cNvSpPr txBox="1"/>
          <p:nvPr>
            <p:ph idx="1" type="body"/>
          </p:nvPr>
        </p:nvSpPr>
        <p:spPr>
          <a:xfrm>
            <a:off x="594300" y="1592400"/>
            <a:ext cx="10515600" cy="46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Helvetica Neue"/>
              <a:buChar char="-"/>
            </a:pPr>
            <a:r>
              <a:rPr lang="en-US" sz="1800">
                <a:latin typeface="Helvetica Neue"/>
                <a:ea typeface="Helvetica Neue"/>
                <a:cs typeface="Helvetica Neue"/>
                <a:sym typeface="Helvetica Neue"/>
              </a:rPr>
              <a:t>ROI Blocks (Green): Apply sharpening </a:t>
            </a:r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Helvetica Neue"/>
              <a:buChar char="-"/>
            </a:pPr>
            <a:r>
              <a:rPr lang="en-US" sz="1800">
                <a:latin typeface="Helvetica Neue"/>
                <a:ea typeface="Helvetica Neue"/>
                <a:cs typeface="Helvetica Neue"/>
                <a:sym typeface="Helvetica Neue"/>
              </a:rPr>
              <a:t>RONI Blocks (Blue): Apply strong lossy compression </a:t>
            </a:r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Helvetica Neue"/>
              <a:buChar char="-"/>
            </a:pPr>
            <a:r>
              <a:rPr lang="en-US" sz="1800">
                <a:latin typeface="Helvetica Neue"/>
                <a:ea typeface="Helvetica Neue"/>
                <a:cs typeface="Helvetica Neue"/>
                <a:sym typeface="Helvetica Neue"/>
              </a:rPr>
              <a:t>Mixed Blocks (Red): Apply wavelet-based enhancement</a:t>
            </a:r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2" name="Google Shape;132;g38bce4e0e8b_3_77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-US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3" name="Google Shape;133;g38bce4e0e8b_3_77"/>
          <p:cNvSpPr txBox="1"/>
          <p:nvPr>
            <p:ph idx="10" type="dt"/>
          </p:nvPr>
        </p:nvSpPr>
        <p:spPr>
          <a:xfrm>
            <a:off x="7924800" y="6284674"/>
            <a:ext cx="28779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17/11/25</a:t>
            </a:r>
            <a:endParaRPr/>
          </a:p>
        </p:txBody>
      </p:sp>
      <p:pic>
        <p:nvPicPr>
          <p:cNvPr id="134" name="Google Shape;134;g38bce4e0e8b_3_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54600" y="3023688"/>
            <a:ext cx="8739299" cy="3105675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g38bce4e0e8b_3_77"/>
          <p:cNvSpPr txBox="1"/>
          <p:nvPr/>
        </p:nvSpPr>
        <p:spPr>
          <a:xfrm>
            <a:off x="1954600" y="6200700"/>
            <a:ext cx="6437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u="sng">
                <a:solidFill>
                  <a:schemeClr val="hlink"/>
                </a:solidFill>
                <a:latin typeface="Helvetica Neue"/>
                <a:ea typeface="Helvetica Neue"/>
                <a:cs typeface="Helvetica Neue"/>
                <a:sym typeface="Helvetica Neue"/>
                <a:hlinkClick r:id="rId4"/>
              </a:rPr>
              <a:t>https://www.kaggle.com/datasets/nikhilroxtomar/person-segmentation</a:t>
            </a:r>
            <a:r>
              <a:rPr b="1" lang="en-US"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b="1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6" name="Google Shape;136;g38bce4e0e8b_3_77"/>
          <p:cNvSpPr txBox="1"/>
          <p:nvPr/>
        </p:nvSpPr>
        <p:spPr>
          <a:xfrm>
            <a:off x="5150625" y="528075"/>
            <a:ext cx="6114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865696570e_0_53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-US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2" name="Google Shape;142;g3865696570e_0_53"/>
          <p:cNvSpPr txBox="1"/>
          <p:nvPr>
            <p:ph idx="10" type="dt"/>
          </p:nvPr>
        </p:nvSpPr>
        <p:spPr>
          <a:xfrm>
            <a:off x="7924800" y="6284674"/>
            <a:ext cx="28779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17/11/25</a:t>
            </a:r>
            <a:endParaRPr/>
          </a:p>
        </p:txBody>
      </p:sp>
      <p:pic>
        <p:nvPicPr>
          <p:cNvPr id="143" name="Google Shape;143;g3865696570e_0_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50" y="833800"/>
            <a:ext cx="11465924" cy="31850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44" name="Google Shape;144;g3865696570e_0_53"/>
          <p:cNvGraphicFramePr/>
          <p:nvPr/>
        </p:nvGraphicFramePr>
        <p:xfrm>
          <a:off x="468075" y="4352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{C2DC0C1B-D259-40A4-92B4-76CB2323FE3A}</a:tableStyleId>
              </a:tblPr>
              <a:tblGrid>
                <a:gridCol w="2328450"/>
                <a:gridCol w="2316675"/>
                <a:gridCol w="2281450"/>
                <a:gridCol w="2269650"/>
                <a:gridCol w="2269650"/>
              </a:tblGrid>
              <a:tr h="4889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Original</a:t>
                      </a:r>
                      <a:endParaRPr b="1" sz="17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JPEG / JPEG-LS</a:t>
                      </a:r>
                      <a:endParaRPr b="1" sz="17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Block-based PCA</a:t>
                      </a:r>
                      <a:endParaRPr b="1" sz="17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JPEG 2000 (ROI)</a:t>
                      </a:r>
                      <a:endParaRPr b="1" sz="17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Proposed Hybrid</a:t>
                      </a:r>
                      <a:endParaRPr b="1" sz="17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617.0 KB</a:t>
                      </a:r>
                      <a:endParaRPr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555.5 KB</a:t>
                      </a:r>
                      <a:endParaRPr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94.8 KB</a:t>
                      </a:r>
                      <a:endParaRPr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637.5 KB</a:t>
                      </a:r>
                      <a:endParaRPr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558.0 KB</a:t>
                      </a:r>
                      <a:endParaRPr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5" name="Google Shape;145;g3865696570e_0_53"/>
          <p:cNvSpPr txBox="1"/>
          <p:nvPr/>
        </p:nvSpPr>
        <p:spPr>
          <a:xfrm>
            <a:off x="5737575" y="433600"/>
            <a:ext cx="6361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u="sng">
                <a:solidFill>
                  <a:schemeClr val="hlink"/>
                </a:solidFill>
                <a:latin typeface="Helvetica Neue"/>
                <a:ea typeface="Helvetica Neue"/>
                <a:cs typeface="Helvetica Neue"/>
                <a:sym typeface="Helvetica Neue"/>
                <a:hlinkClick r:id="rId4"/>
              </a:rPr>
              <a:t>https://www.kaggle.com/datasets/nikhilroxtomar/person-segmentation</a:t>
            </a:r>
            <a:r>
              <a:rPr b="1" lang="en-US"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b="1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865696570e_0_186"/>
          <p:cNvSpPr txBox="1"/>
          <p:nvPr>
            <p:ph type="title"/>
          </p:nvPr>
        </p:nvSpPr>
        <p:spPr>
          <a:xfrm>
            <a:off x="587378" y="17960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</a:pPr>
            <a:r>
              <a:rPr lang="en-US"/>
              <a:t>CONCLUSION</a:t>
            </a:r>
            <a:endParaRPr/>
          </a:p>
        </p:txBody>
      </p:sp>
      <p:sp>
        <p:nvSpPr>
          <p:cNvPr id="151" name="Google Shape;151;g3865696570e_0_186"/>
          <p:cNvSpPr txBox="1"/>
          <p:nvPr>
            <p:ph idx="1" type="body"/>
          </p:nvPr>
        </p:nvSpPr>
        <p:spPr>
          <a:xfrm>
            <a:off x="287100" y="1592275"/>
            <a:ext cx="10515600" cy="42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20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55600" lvl="0" marL="9144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2000"/>
              <a:buFont typeface="Helvetica Neue"/>
              <a:buChar char="-"/>
            </a:pPr>
            <a:r>
              <a:rPr lang="en-US" sz="2000">
                <a:latin typeface="Helvetica Neue"/>
                <a:ea typeface="Helvetica Neue"/>
                <a:cs typeface="Helvetica Neue"/>
                <a:sym typeface="Helvetica Neue"/>
              </a:rPr>
              <a:t>ROI keeps key areas sharp, compresses background.</a:t>
            </a:r>
            <a:br>
              <a:rPr lang="en-US" sz="2000">
                <a:latin typeface="Helvetica Neue"/>
                <a:ea typeface="Helvetica Neue"/>
                <a:cs typeface="Helvetica Neue"/>
                <a:sym typeface="Helvetica Neue"/>
              </a:rPr>
            </a:br>
            <a:endParaRPr sz="20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5560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Font typeface="Helvetica Neue"/>
              <a:buChar char="-"/>
            </a:pPr>
            <a:r>
              <a:rPr lang="en-US" sz="2000">
                <a:latin typeface="Helvetica Neue"/>
                <a:ea typeface="Helvetica Neue"/>
                <a:cs typeface="Helvetica Neue"/>
                <a:sym typeface="Helvetica Neue"/>
              </a:rPr>
              <a:t>Hybrid method works best for medical images.</a:t>
            </a:r>
            <a:br>
              <a:rPr lang="en-US" sz="2000">
                <a:latin typeface="Helvetica Neue"/>
                <a:ea typeface="Helvetica Neue"/>
                <a:cs typeface="Helvetica Neue"/>
                <a:sym typeface="Helvetica Neue"/>
              </a:rPr>
            </a:br>
            <a:endParaRPr sz="20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5560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Font typeface="Helvetica Neue"/>
              <a:buChar char="-"/>
            </a:pPr>
            <a:r>
              <a:rPr lang="en-US" sz="2000">
                <a:latin typeface="Helvetica Neue"/>
                <a:ea typeface="Helvetica Neue"/>
                <a:cs typeface="Helvetica Neue"/>
                <a:sym typeface="Helvetica Neue"/>
              </a:rPr>
              <a:t>In RGB images, JPEG2000 performs better than our hybrid method.</a:t>
            </a:r>
            <a:br>
              <a:rPr lang="en-US" sz="2000">
                <a:latin typeface="Helvetica Neue"/>
                <a:ea typeface="Helvetica Neue"/>
                <a:cs typeface="Helvetica Neue"/>
                <a:sym typeface="Helvetica Neue"/>
              </a:rPr>
            </a:br>
            <a:endParaRPr sz="20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5560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Font typeface="Helvetica Neue"/>
              <a:buChar char="-"/>
            </a:pPr>
            <a:r>
              <a:rPr lang="en-US" sz="2000">
                <a:latin typeface="Helvetica Neue"/>
                <a:ea typeface="Helvetica Neue"/>
                <a:cs typeface="Helvetica Neue"/>
                <a:sym typeface="Helvetica Neue"/>
              </a:rPr>
              <a:t>Overall: clearer ROIs, smaller size for non-ROI, better efficiency.</a:t>
            </a:r>
            <a:endParaRPr sz="20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15240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00"/>
              <a:buFont typeface="Helvetica Neue Light"/>
              <a:buNone/>
            </a:pPr>
            <a:r>
              <a:t/>
            </a:r>
            <a:endParaRPr b="1"/>
          </a:p>
          <a:p>
            <a:pPr indent="-76200" lvl="0" marL="2286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"/>
              <a:buFont typeface="Helvetica Neue Light"/>
              <a:buNone/>
            </a:pPr>
            <a:r>
              <a:t/>
            </a:r>
            <a:endParaRPr sz="1100"/>
          </a:p>
        </p:txBody>
      </p:sp>
      <p:sp>
        <p:nvSpPr>
          <p:cNvPr id="152" name="Google Shape;152;g3865696570e_0_186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-US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3" name="Google Shape;153;g3865696570e_0_186"/>
          <p:cNvSpPr txBox="1"/>
          <p:nvPr>
            <p:ph idx="10" type="dt"/>
          </p:nvPr>
        </p:nvSpPr>
        <p:spPr>
          <a:xfrm>
            <a:off x="7924800" y="6284674"/>
            <a:ext cx="28779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17/11/25</a:t>
            </a:r>
            <a:endParaRPr/>
          </a:p>
        </p:txBody>
      </p:sp>
      <p:sp>
        <p:nvSpPr>
          <p:cNvPr id="154" name="Google Shape;154;g3865696570e_0_186"/>
          <p:cNvSpPr txBox="1"/>
          <p:nvPr/>
        </p:nvSpPr>
        <p:spPr>
          <a:xfrm>
            <a:off x="4252500" y="6347625"/>
            <a:ext cx="5931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/>
          </a:p>
        </p:txBody>
      </p:sp>
      <p:sp>
        <p:nvSpPr>
          <p:cNvPr id="155" name="Google Shape;155;g3865696570e_0_186"/>
          <p:cNvSpPr txBox="1"/>
          <p:nvPr/>
        </p:nvSpPr>
        <p:spPr>
          <a:xfrm>
            <a:off x="2956850" y="1926125"/>
            <a:ext cx="6114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8bce4e0e8b_3_49"/>
          <p:cNvSpPr txBox="1"/>
          <p:nvPr>
            <p:ph type="title"/>
          </p:nvPr>
        </p:nvSpPr>
        <p:spPr>
          <a:xfrm>
            <a:off x="594303" y="26035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</a:pPr>
            <a:r>
              <a:rPr lang="en-US"/>
              <a:t>REFERENCES</a:t>
            </a:r>
            <a:endParaRPr/>
          </a:p>
        </p:txBody>
      </p:sp>
      <p:sp>
        <p:nvSpPr>
          <p:cNvPr id="161" name="Google Shape;161;g38bce4e0e8b_3_49"/>
          <p:cNvSpPr txBox="1"/>
          <p:nvPr>
            <p:ph idx="1" type="body"/>
          </p:nvPr>
        </p:nvSpPr>
        <p:spPr>
          <a:xfrm>
            <a:off x="594302" y="142567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25000" lnSpcReduction="20000"/>
          </a:bodyPr>
          <a:lstStyle/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93353"/>
              <a:buNone/>
            </a:pPr>
            <a:r>
              <a:t/>
            </a:r>
            <a:endParaRPr b="1" sz="4965"/>
          </a:p>
          <a:p>
            <a:pPr indent="-34407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Helvetica Neue"/>
              <a:buChar char="-"/>
            </a:pPr>
            <a:r>
              <a:rPr lang="en-US" sz="7273">
                <a:latin typeface="Helvetica Neue"/>
                <a:ea typeface="Helvetica Neue"/>
                <a:cs typeface="Helvetica Neue"/>
                <a:sym typeface="Helvetica Neue"/>
              </a:rPr>
              <a:t>Ungureanu, V.-I., Negirla, P., &amp; Korodi, A. (2024). *Image-compression techniques: Classical and “region-of-interest-based” approaches presented in recent papers*. *Sensors, 24*(3), 791. [</a:t>
            </a:r>
            <a:r>
              <a:rPr lang="en-US" sz="7273" u="sng">
                <a:solidFill>
                  <a:schemeClr val="hlink"/>
                </a:solidFill>
                <a:latin typeface="Helvetica Neue"/>
                <a:ea typeface="Helvetica Neue"/>
                <a:cs typeface="Helvetica Neue"/>
                <a:sym typeface="Helvetica Neue"/>
                <a:hlinkClick r:id="rId3"/>
              </a:rPr>
              <a:t>https://doi.org/10.3390/s24030791](https://doi.org/10.3390/s24030791</a:t>
            </a:r>
            <a:r>
              <a:rPr lang="en-US" sz="7273">
                <a:latin typeface="Helvetica Neue"/>
                <a:ea typeface="Helvetica Neue"/>
                <a:cs typeface="Helvetica Neue"/>
                <a:sym typeface="Helvetica Neue"/>
              </a:rPr>
              <a:t> )  </a:t>
            </a:r>
            <a:endParaRPr sz="7273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31995"/>
              <a:buNone/>
            </a:pPr>
            <a:r>
              <a:t/>
            </a:r>
            <a:endParaRPr sz="7273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407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Helvetica Neue"/>
              <a:buChar char="-"/>
            </a:pPr>
            <a:r>
              <a:rPr lang="en-US" sz="7273">
                <a:latin typeface="Helvetica Neue"/>
                <a:ea typeface="Helvetica Neue"/>
                <a:cs typeface="Helvetica Neue"/>
                <a:sym typeface="Helvetica Neue"/>
              </a:rPr>
              <a:t>Kafashan, M., Hosseini, H., Beygiharchegani, S., Pad, P., &amp; Marvasti, F. (2010, October). </a:t>
            </a:r>
            <a:r>
              <a:rPr i="1" lang="en-US" sz="7273">
                <a:latin typeface="Helvetica Neue"/>
                <a:ea typeface="Helvetica Neue"/>
                <a:cs typeface="Helvetica Neue"/>
                <a:sym typeface="Helvetica Neue"/>
              </a:rPr>
              <a:t>New rectangular partitioning methods for lossless binary image compression</a:t>
            </a:r>
            <a:r>
              <a:rPr lang="en-US" sz="7273">
                <a:latin typeface="Helvetica Neue"/>
                <a:ea typeface="Helvetica Neue"/>
                <a:cs typeface="Helvetica Neue"/>
                <a:sym typeface="Helvetica Neue"/>
              </a:rPr>
              <a:t>. In </a:t>
            </a:r>
            <a:r>
              <a:rPr i="1" lang="en-US" sz="7273">
                <a:latin typeface="Helvetica Neue"/>
                <a:ea typeface="Helvetica Neue"/>
                <a:cs typeface="Helvetica Neue"/>
                <a:sym typeface="Helvetica Neue"/>
              </a:rPr>
              <a:t>2010 IEEE 10th International Conference on Signal Processing (ICSP)</a:t>
            </a:r>
            <a:r>
              <a:rPr lang="en-US" sz="7273">
                <a:latin typeface="Helvetica Neue"/>
                <a:ea typeface="Helvetica Neue"/>
                <a:cs typeface="Helvetica Neue"/>
                <a:sym typeface="Helvetica Neue"/>
              </a:rPr>
              <a:t>. IEEE. </a:t>
            </a:r>
            <a:r>
              <a:rPr lang="en-US" sz="7273" u="sng">
                <a:solidFill>
                  <a:schemeClr val="hlink"/>
                </a:solidFill>
                <a:latin typeface="Helvetica Neue"/>
                <a:ea typeface="Helvetica Neue"/>
                <a:cs typeface="Helvetica Neue"/>
                <a:sym typeface="Helvetica Neue"/>
                <a:hlinkClick r:id="rId4"/>
              </a:rPr>
              <a:t>https://doi.org/10.1109/ICOSP.2010.5655736</a:t>
            </a:r>
            <a:r>
              <a:rPr lang="en-US" sz="7273"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sz="7273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31995"/>
              <a:buNone/>
            </a:pPr>
            <a:r>
              <a:t/>
            </a:r>
            <a:endParaRPr sz="7273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407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Helvetica Neue"/>
              <a:buChar char="-"/>
            </a:pPr>
            <a:r>
              <a:rPr lang="en-US" sz="7273">
                <a:latin typeface="Helvetica Neue"/>
                <a:ea typeface="Helvetica Neue"/>
                <a:cs typeface="Helvetica Neue"/>
                <a:sym typeface="Helvetica Neue"/>
              </a:rPr>
              <a:t>Bairagi, V., &amp; Sapkal, A. M. (2013). ROI-based DICOM image compression for telemedicine. Indian Academy of Sciences, 38(1), 123–131. </a:t>
            </a:r>
            <a:r>
              <a:rPr lang="en-US" sz="7273" u="sng">
                <a:solidFill>
                  <a:schemeClr val="hlink"/>
                </a:solidFill>
                <a:latin typeface="Helvetica Neue"/>
                <a:ea typeface="Helvetica Neue"/>
                <a:cs typeface="Helvetica Neue"/>
                <a:sym typeface="Helvetica Neue"/>
                <a:hlinkClick r:id="rId5"/>
              </a:rPr>
              <a:t>https://www.ias.ac.in/public/Volumes/sadh/038/01/0123-0131.pdf</a:t>
            </a:r>
            <a:endParaRPr sz="7273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31995"/>
              <a:buNone/>
            </a:pPr>
            <a:r>
              <a:t/>
            </a:r>
            <a:endParaRPr sz="7273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407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Helvetica Neue"/>
              <a:buChar char="-"/>
            </a:pPr>
            <a:r>
              <a:rPr lang="en-US" sz="7273">
                <a:latin typeface="Helvetica Neue"/>
                <a:ea typeface="Helvetica Neue"/>
                <a:cs typeface="Helvetica Neue"/>
                <a:sym typeface="Helvetica Neue"/>
              </a:rPr>
              <a:t>Kiran, R., &amp; Kamargaonkar, C. (2016, March). Region based medical image compression using block-based PCA. In 2016 International Conference on Computation of Power, Energy, Information and Communication (ICCPEIC). IEEE. </a:t>
            </a:r>
            <a:r>
              <a:rPr lang="en-US" sz="7273" u="sng">
                <a:solidFill>
                  <a:schemeClr val="hlink"/>
                </a:solidFill>
                <a:latin typeface="Helvetica Neue"/>
                <a:ea typeface="Helvetica Neue"/>
                <a:cs typeface="Helvetica Neue"/>
                <a:sym typeface="Helvetica Neue"/>
                <a:hlinkClick r:id="rId6"/>
              </a:rPr>
              <a:t>https://doi.org/10.1109/ICCPEIC.2016.7557289</a:t>
            </a:r>
            <a:r>
              <a:rPr lang="en-US" sz="7273"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sz="7273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273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4058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Helvetica Neue"/>
              <a:buChar char="-"/>
            </a:pPr>
            <a:r>
              <a:rPr lang="en-US" sz="7273">
                <a:latin typeface="Helvetica Neue"/>
                <a:ea typeface="Helvetica Neue"/>
                <a:cs typeface="Helvetica Neue"/>
                <a:sym typeface="Helvetica Neue"/>
              </a:rPr>
              <a:t>Dataset- </a:t>
            </a:r>
            <a:r>
              <a:rPr lang="en-US" sz="7273" u="sng">
                <a:solidFill>
                  <a:schemeClr val="hlink"/>
                </a:solidFill>
                <a:latin typeface="Helvetica Neue"/>
                <a:ea typeface="Helvetica Neue"/>
                <a:cs typeface="Helvetica Neue"/>
                <a:sym typeface="Helvetica Neue"/>
                <a:hlinkClick r:id="rId7"/>
              </a:rPr>
              <a:t>https://www.kaggle.com/datasets/nikhilroxtomar/person-segmentation</a:t>
            </a:r>
            <a:endParaRPr sz="7273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407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Helvetica Neue"/>
              <a:buChar char="-"/>
            </a:pPr>
            <a:r>
              <a:rPr lang="en-US" sz="7273">
                <a:latin typeface="Helvetica Neue"/>
                <a:ea typeface="Helvetica Neue"/>
                <a:cs typeface="Helvetica Neue"/>
                <a:sym typeface="Helvetica Neue"/>
              </a:rPr>
              <a:t>Dataset-</a:t>
            </a:r>
            <a:r>
              <a:rPr lang="en-US" sz="7273" u="sng">
                <a:solidFill>
                  <a:schemeClr val="hlink"/>
                </a:solidFill>
                <a:latin typeface="Helvetica Neue"/>
                <a:ea typeface="Helvetica Neue"/>
                <a:cs typeface="Helvetica Neue"/>
                <a:sym typeface="Helvetica Neue"/>
                <a:hlinkClick r:id="rId8"/>
              </a:rPr>
              <a:t>https://www.kaggle.com/navoneel/brain-mri-images-for-brain-tumor-detection</a:t>
            </a:r>
            <a:r>
              <a:rPr lang="en-US" sz="7273"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sz="7273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39580"/>
              <a:buNone/>
            </a:pPr>
            <a:r>
              <a:t/>
            </a:r>
            <a:endParaRPr b="1" sz="4007"/>
          </a:p>
          <a:p>
            <a:pPr indent="0" lvl="0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Helvetica Neue Light"/>
              <a:buNone/>
            </a:pPr>
            <a:r>
              <a:t/>
            </a:r>
            <a:endParaRPr/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Helvetica Neue Light"/>
              <a:buNone/>
            </a:pPr>
            <a:r>
              <a:t/>
            </a:r>
            <a:endParaRPr/>
          </a:p>
        </p:txBody>
      </p:sp>
      <p:sp>
        <p:nvSpPr>
          <p:cNvPr id="162" name="Google Shape;162;g38bce4e0e8b_3_49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-US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3" name="Google Shape;163;g38bce4e0e8b_3_49"/>
          <p:cNvSpPr txBox="1"/>
          <p:nvPr>
            <p:ph idx="10" type="dt"/>
          </p:nvPr>
        </p:nvSpPr>
        <p:spPr>
          <a:xfrm>
            <a:off x="7924800" y="6284674"/>
            <a:ext cx="28779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17/11/25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Ahmedabad University ">
      <a:dk1>
        <a:srgbClr val="000000"/>
      </a:dk1>
      <a:lt1>
        <a:srgbClr val="FFFFFF"/>
      </a:lt1>
      <a:dk2>
        <a:srgbClr val="7D1916"/>
      </a:dk2>
      <a:lt2>
        <a:srgbClr val="F2F1EE"/>
      </a:lt2>
      <a:accent1>
        <a:srgbClr val="894C00"/>
      </a:accent1>
      <a:accent2>
        <a:srgbClr val="7F4700"/>
      </a:accent2>
      <a:accent3>
        <a:srgbClr val="A5A5A5"/>
      </a:accent3>
      <a:accent4>
        <a:srgbClr val="BC933E"/>
      </a:accent4>
      <a:accent5>
        <a:srgbClr val="000000"/>
      </a:accent5>
      <a:accent6>
        <a:srgbClr val="FEFFFF"/>
      </a:accent6>
      <a:hlink>
        <a:srgbClr val="000000"/>
      </a:hlink>
      <a:folHlink>
        <a:srgbClr val="FE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